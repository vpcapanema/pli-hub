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253935" y="0"/>
            <a:ext cx="4937760" cy="6858000"/>
          </a:xfrm>
          <a:prstGeom prst="rect">
            <a:avLst/>
          </a:prstGeom>
          <a:solidFill>
            <a:srgbClr val="08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253935" y="0"/>
            <a:ext cx="12700" cy="6858000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VPC-GEOSER ·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6766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8800" b="1">
                <a:solidFill>
                  <a:srgbClr val="E8F1F6"/>
                </a:solidFill>
                <a:latin typeface="Segoe UI Semibold"/>
              </a:rPr>
              <a:t>PLI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56692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8FB0C2"/>
                </a:solidFill>
                <a:latin typeface="Segoe UI"/>
              </a:rPr>
              <a:t>Portfólio de aplicações web do Programa Litoral Integrado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12 sistemas em 3 categorias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84648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CENTRAL DE ACESSO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39496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https://56.125.163.194/pli-hub/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51576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RESPONSÁVEL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61888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Vinicius do Prado Capanema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4015" y="123444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NESTE DOCUMENTO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015" y="1645920"/>
            <a:ext cx="3657600" cy="3175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4015" y="175564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4015" y="202996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SIGMA-PLI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4015" y="226771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015" y="2505456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Smart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015" y="27432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Reporta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4015" y="29809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PLI-HazardTrack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015" y="321868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FAD-Stats 2.0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015" y="3639312"/>
            <a:ext cx="3657600" cy="3175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94015" y="374904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015" y="402336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Infosiga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4015" y="426110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4015" y="44988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Malha SP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4015" y="4919472"/>
            <a:ext cx="3657600" cy="3175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94015" y="502920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015" y="530352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015" y="55412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AHP Tool Calculator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577900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Formulário Embarcadores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 portfólio em um relance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020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160020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6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CATEGORIAS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4064" y="160020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AR HOJE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160020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60020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COM TELA REGISTRADA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603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8368" y="2880360"/>
            <a:ext cx="3411626" cy="381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063240"/>
            <a:ext cx="341162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11880"/>
            <a:ext cx="341162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6 aplicações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959351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SIGMA-PLI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68826" y="402335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4379975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4361687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SICARD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68826" y="4425695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8368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" y="4782311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4764023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Smart Router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68826" y="4828031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5184647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" y="5166359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Reporta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68826" y="5230367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8368" y="5458967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5586983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" y="5568695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PLI-HazardTrack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68826" y="5632703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8368" y="5861303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" y="5989319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" y="5971031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FAD-Stats 2.0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68826" y="603503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58368" y="626363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390034" y="2880360"/>
            <a:ext cx="3411626" cy="381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90034" y="3063240"/>
            <a:ext cx="341162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0034" y="3611880"/>
            <a:ext cx="341162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0034" y="3977639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4082" y="3959351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Infosiga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0492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390034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390034" y="4379975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4082" y="4361687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00492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390034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90034" y="4782311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4082" y="4764023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Densidade Malha SP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00492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390034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121700" y="2880360"/>
            <a:ext cx="3411626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121700" y="3063240"/>
            <a:ext cx="341162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21700" y="3611880"/>
            <a:ext cx="341162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1700" y="3977639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5748" y="3959351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332159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8121700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121700" y="4379975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5748" y="4361687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AHP Tool Calculator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332159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121700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121700" y="4782311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5748" y="4764023"/>
            <a:ext cx="26801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Embarcadores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332159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121700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Panorama     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Integrado de Gestão, Monitoramento e Apoio Técnico ao Plano de Legado de Informações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Cataloga, organiza e disponibiliza os dados técnicos do Plano de Legado de Informações do Estado de São Paulo. É a plataforma central: além de entregar valor por si só, fornece autenticação e cadastro de pessoas e instituições para as demais aplicações.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Plataforma central do ecossistema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42827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8940" y="5029200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2896" y="5029200"/>
            <a:ext cx="69128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Memgraph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340096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8636" y="5340096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 Shiny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5520" y="5340096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Cloudflare R2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2556" y="5340096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sig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Painel do SIGMA-PLI · relatório de atividades, jun/2026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Catálogo de metadados com upload, indexação e busca avançada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Autenticação JWT e cadastro PF/PJ com verificação de e-mail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Grafo de conhecimento em Memgraph para descobrir relações entre dados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WebGIS próprio: camadas OGC (WMS/WFS) publicadas via GeoServer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Dashboards interativos em R Shiny e painel administrativo completo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SIGMA-PLI ·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A plataforma central, módulo a módulo</a:t>
            </a:r>
          </a:p>
        </p:txBody>
      </p:sp>
      <p:pic>
        <p:nvPicPr>
          <p:cNvPr id="5" name="Picture 4" descr="sigma_gra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36576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1600200"/>
            <a:ext cx="3657600" cy="228600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395020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Explorador de grafo do módulo M09 · relatório de atividades, jun/2026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Cada módulo é uma área funcional própria. Juntos, formam a base sobre a qual as outras aplicações do PLI se apoiam.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73168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56048" y="1700784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892808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130552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Página pública, status do sistema e health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93610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93610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76490" y="1700784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6490" y="1892808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6490" y="2130552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Login, cadastro PF/PJ e verificação de e-mail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4052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414052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96932" y="1700784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6932" y="1892808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932" y="2130552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pós-login, KPIs e navegação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73168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56048" y="2807208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999232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Dicionário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236976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Catálogo de metadados, upload S3 e WebGIS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93610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093610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76490" y="2807208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6490" y="2999232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Minha Área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76490" y="3236976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Perfil, calendário, tarefas e uploads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4052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414052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96932" y="2807208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6932" y="2999232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Calendário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932" y="3236976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Calendário de atividades e eventos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73168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56048" y="3913632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6048" y="4105656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Relatórios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6048" y="4343400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Relatórios de cadastros e usuários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93610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093610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276490" y="3913632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6490" y="4105656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Ferramentas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6490" y="4343400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Hub de ferramentas, GeoServer ETL e Shiny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4052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414052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96932" y="3913632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96932" y="4105656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Management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96932" y="4343400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admin, cadastros, sessões e solicitações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73168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73168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956048" y="5020056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56048" y="5212080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Memgraph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6048" y="5449824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Explorador de grafo, busca e governança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93610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93610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276490" y="5020056"/>
            <a:ext cx="17992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6490" y="5212080"/>
            <a:ext cx="179923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SIGMA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76490" y="5449824"/>
            <a:ext cx="179923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Monitoramento de infraestrutura e da VM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Inteligente de Cadastro e Ranking de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Cadastra, analisa, hierarquiza e acompanha planos, programas e projetos. Combina análise multicritério AHP, processamento geoespacial e trilha de auditoria para transformar demandas soltas em uma carteira priorizada.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Apoio à decisão sobre a carteira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48496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3.11+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5632" y="5029200"/>
            <a:ext cx="176842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 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76356" y="5029200"/>
            <a:ext cx="86135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HTML/CSS/JS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340096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API do SIGMA-PLI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https://56.125.163.194/sicard/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si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público do SICARD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Hierarquização multicritério por AHP, com pesos auditáveis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Triagem socioambiental e favorabilidade territorial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Bancadas espaciais e painéis de acompanhamento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Login e cadastro de pessoas e instituições consumidos do SIGMA-PLI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Trilha de auditoria de ponta a ponta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Roteirizador com resiliência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rotas reais sobre a malha do PLI/SP 2050, sobrepõe os alertas em tempo real do HazardTrack e do PLI Reporta e recalcula o trajeto automaticamente, desviando das áreas afetadas.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Onde o alerta vira decisão operacional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Flask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Leaflet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8752" y="5029200"/>
            <a:ext cx="137158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OSRM · OpenStreetMap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32632" y="5029200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Nominatim · ViaCEP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https://56.125.163.194/smart-router/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smartrou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Malha e camadas de risco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Origem e destino por coordenada, busca textual ou clique no mapa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Geocoding automático: CEP via ViaCEP, endereço via Nominatim/OSM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Roteamento OSRM com waypoints intermediários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ao vivo de risco (HazardTrack) e de incidentes (PLI Reporta)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Smart route: rota alternativa com buffer de segurança de 500 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PWA colaborativa de reportes viários georreferenciados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Aplicativo mobile-first em que o cidadão reporta ocorrências na via. Os relatos passam por um pipeline de veracidade e relevância e só então alimentam os serviços de roteamento e alerta como incidentes verificados.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 camada de incidentes verificados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Uvicorn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21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9056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PWA mobile-first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1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https://56.125.163.194/pli-reporta/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repo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Tela de reporte do cidadão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Reportes de buraco, alagamento, acidente, bloqueio, obra e sinalização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Pipeline de veracidade e relevância antes da publicação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Mapa público e fluxo de moderação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Endpoint GeoJSON estável para integração com o roteador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Instalável como PWA, pensado para uso em campo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SAMAEG-PLI · Monitoramento, Análise e Alerta Geodinâmico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Monitora chuva em streaming e traduz o dado bruto em risco por trecho rodoviário do DER-SP. Implementa o conceito do Produto 06 do relatório REGEA-NIPPON 2021, com o modelo oficial de Risco Dinâmico.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 sensor climático da malha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MERGE/CPTEC/INPE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56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2556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https://56.125.163.194/pli-hazardtrack/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hazardtr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Mapa integrado de riscos climáticos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Dados reais de chuva MERGE/CPTEC/INPE consumidos em streaming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dirty="0">
                <a:solidFill>
                  <a:srgbClr val="D3E3EC"/>
                </a:solidFill>
                <a:latin typeface="Segoe UI"/>
              </a:rPr>
              <a:t>Modelo de Risco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Dinâmico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RD = RA × ICC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dirty="0">
                <a:solidFill>
                  <a:srgbClr val="D3E3EC"/>
                </a:solidFill>
                <a:latin typeface="Segoe UI"/>
              </a:rPr>
              <a:t>Quatro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regiões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climático-geológico-geomorfológicas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do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litoral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norte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e da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baixada</a:t>
            </a:r>
            <a:r>
              <a:rPr sz="1050" b="0" dirty="0">
                <a:solidFill>
                  <a:srgbClr val="D3E3EC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D3E3EC"/>
                </a:solidFill>
                <a:latin typeface="Segoe UI"/>
              </a:rPr>
              <a:t>santista</a:t>
            </a:r>
            <a:endParaRPr sz="1050" b="0" dirty="0">
              <a:solidFill>
                <a:srgbClr val="D3E3EC"/>
              </a:solidFill>
              <a:latin typeface="Segoe U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440680" y="58430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576072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de movimento de massa, inundação e risco de fogo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61264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96712" y="6044184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Níveis operacionais compatíveis com o PPDC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Ferramenta de Análise Dinamizada de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Plataforma de análise estatística e espacial de dados oficiais. Reúne produção agropecuária, comércio exterior, mercado de trabalho e logística em uma única bancada de exploração.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Leitura socioeconômica do território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5596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788" y="5029200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Nginx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https://56.125.163.194/fad-stats/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fad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Hub de dashboards da FAD-Stats · relatório de atividades, jun/2026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Fontes oficiais: IBGE, SECEX, MTE e ANTT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21 tipos de gráfico e 6 tipos de mapa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Recortes municipais e regionais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Infosiga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da base Infosiga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dos acidentes registrados no sistema Infosiga, com filtros por período, tipo de ocorrência e localização.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Diagnóstico de sinistralidade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https://acidentes-infosiga.onrender.com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nfosi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de acidentes rodoviários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oficial Infosiga de sinistros de trânsito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Filtros por período, tipo e localização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Visualizações interativas de séries e distribuições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da base do DER-SP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dos acidentes registrados pelo DER-SP, organizada por rodovia e por período.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Sinistralidade por rodovia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https://acidentes-der-analise-exploratoria.onrender.com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acidentes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consolidada 2023-2025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 por rodovia sob gestão do DER-SP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Séries temporais e comparação entre trechos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Insumo direto para priorização de intervenções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Densidade Malha 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Densidade da malha viária estadual paulista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Mede e visualiza a densidade da malha viária estadual por trecho e por região, expondo vazios e concentrações de cobertura.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Cobertura da rede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ctr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https://densidade-de-malha-estadual-sp.onrender.com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densid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geoespacial da malha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Densidade calculada por trecho e por região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Leitura territorial dos vazios de cobertura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para estudos de expansão da malha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48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dirty="0" err="1">
                <a:solidFill>
                  <a:srgbClr val="E8F1F6"/>
                </a:solidFill>
                <a:latin typeface="Segoe UI Semibold"/>
              </a:rPr>
              <a:t>Calculadora</a:t>
            </a:r>
            <a:r>
              <a:rPr sz="3300" b="1" dirty="0">
                <a:solidFill>
                  <a:srgbClr val="E8F1F6"/>
                </a:solidFill>
                <a:latin typeface="Segoe UI Semibold"/>
              </a:rPr>
              <a:t> </a:t>
            </a:r>
            <a:r>
              <a:rPr sz="2800" b="1" dirty="0" err="1">
                <a:solidFill>
                  <a:srgbClr val="E8F1F6"/>
                </a:solidFill>
                <a:latin typeface="Segoe UI Semibold"/>
              </a:rPr>
              <a:t>Aderência</a:t>
            </a:r>
            <a:r>
              <a:rPr sz="3300" b="1" dirty="0">
                <a:solidFill>
                  <a:srgbClr val="E8F1F6"/>
                </a:solidFill>
                <a:latin typeface="Segoe UI Semibold"/>
              </a:rPr>
              <a:t> </a:t>
            </a:r>
            <a:r>
              <a:rPr sz="2800" b="1" dirty="0">
                <a:solidFill>
                  <a:srgbClr val="E8F1F6"/>
                </a:solidFill>
                <a:latin typeface="Segoe UI Semibold"/>
              </a:rPr>
              <a:t>2.0</a:t>
            </a:r>
            <a:endParaRPr sz="3300" b="1" dirty="0">
              <a:solidFill>
                <a:srgbClr val="E8F1F6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dirty="0" err="1">
                <a:solidFill>
                  <a:srgbClr val="8FB0C2"/>
                </a:solidFill>
                <a:latin typeface="Segoe UI"/>
              </a:rPr>
              <a:t>Aderência</a:t>
            </a:r>
            <a:r>
              <a:rPr sz="1150" b="0" dirty="0">
                <a:solidFill>
                  <a:srgbClr val="8FB0C2"/>
                </a:solidFill>
                <a:latin typeface="Segoe UI"/>
              </a:rPr>
              <a:t> de </a:t>
            </a:r>
            <a:r>
              <a:rPr sz="1150" b="0" dirty="0" err="1">
                <a:solidFill>
                  <a:srgbClr val="8FB0C2"/>
                </a:solidFill>
                <a:latin typeface="Segoe UI"/>
              </a:rPr>
              <a:t>indicadores</a:t>
            </a:r>
            <a:r>
              <a:rPr sz="1150" b="0" dirty="0">
                <a:solidFill>
                  <a:srgbClr val="8FB0C2"/>
                </a:solidFill>
                <a:latin typeface="Segoe UI"/>
              </a:rPr>
              <a:t> a </a:t>
            </a:r>
            <a:r>
              <a:rPr sz="1150" b="0" dirty="0" err="1">
                <a:solidFill>
                  <a:srgbClr val="8FB0C2"/>
                </a:solidFill>
                <a:latin typeface="Segoe UI"/>
              </a:rPr>
              <a:t>metas</a:t>
            </a:r>
            <a:r>
              <a:rPr sz="1150" b="0" dirty="0">
                <a:solidFill>
                  <a:srgbClr val="8FB0C2"/>
                </a:solidFill>
                <a:latin typeface="Segoe UI"/>
              </a:rPr>
              <a:t> e </a:t>
            </a:r>
            <a:r>
              <a:rPr sz="1150" b="0" dirty="0" err="1">
                <a:solidFill>
                  <a:srgbClr val="8FB0C2"/>
                </a:solidFill>
                <a:latin typeface="Segoe UI"/>
              </a:rPr>
              <a:t>resultados</a:t>
            </a:r>
            <a:endParaRPr sz="1150" b="0" dirty="0">
              <a:solidFill>
                <a:srgbClr val="8FB0C2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a aderência de indicadores para avaliar a conformidade de metas e resultados, padronizando o julgamento entre equipes.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Conformidade de indicadores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Avaliação de conformidade de metas e resultados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Critério uniforme entre diferentes equipes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Segunda geração da calculadora original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https://calculadora-aderencia-indicadores-2-0.onrender.com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hierárquica de processos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Ferramenta de análise hierárquica de processos (AHP) para ponderar critérios e priorizar alternativas. É o método que o SICARD incorpora na hierarquização da carteira.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O motor de priorização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Matriz de comparação par a par entre critérios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Pesos e razão de consistência calculados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Mesmo método aplicado dentro do SICARD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https://vpc-geoser-ahp-tool-calculator.onrender.com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482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dirty="0" err="1">
                <a:solidFill>
                  <a:srgbClr val="E8F1F6"/>
                </a:solidFill>
                <a:latin typeface="Segoe UI Semibold"/>
              </a:rPr>
              <a:t>Formulário</a:t>
            </a:r>
            <a:r>
              <a:rPr sz="3300" b="1" dirty="0">
                <a:solidFill>
                  <a:srgbClr val="E8F1F6"/>
                </a:solidFill>
                <a:latin typeface="Segoe UI Semibold"/>
              </a:rPr>
              <a:t> </a:t>
            </a:r>
            <a:r>
              <a:rPr sz="2800" b="1" dirty="0" err="1">
                <a:solidFill>
                  <a:srgbClr val="E8F1F6"/>
                </a:solidFill>
                <a:latin typeface="Segoe UI Semibold"/>
              </a:rPr>
              <a:t>Embarcadores</a:t>
            </a:r>
            <a:endParaRPr sz="3300" b="1" dirty="0">
              <a:solidFill>
                <a:srgbClr val="E8F1F6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dirty="0" err="1">
                <a:solidFill>
                  <a:srgbClr val="8FB0C2"/>
                </a:solidFill>
                <a:latin typeface="Segoe UI"/>
              </a:rPr>
              <a:t>Entrevista</a:t>
            </a:r>
            <a:r>
              <a:rPr sz="1150" b="0" dirty="0">
                <a:solidFill>
                  <a:srgbClr val="8FB0C2"/>
                </a:solidFill>
                <a:latin typeface="Segoe UI"/>
              </a:rPr>
              <a:t> com </a:t>
            </a:r>
            <a:r>
              <a:rPr sz="1050" b="0" dirty="0" err="1">
                <a:solidFill>
                  <a:srgbClr val="8FB0C2"/>
                </a:solidFill>
                <a:latin typeface="Segoe UI"/>
              </a:rPr>
              <a:t>embarcadores</a:t>
            </a:r>
            <a:endParaRPr sz="1150" b="0" dirty="0">
              <a:solidFill>
                <a:srgbClr val="8FB0C2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estruturado de entrevista com embarcadores para levantamento de dados logísticos e de transporte em campo.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Coleta primária de dado logístico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Roteiro de entrevista padronizado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Levantamento de origem, destino e modal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Dado primário que alimenta os estudos logísticos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https://formulario-entrevista-embarcadores.onrender.com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Como as peças conversam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FB0C2"/>
                </a:solidFill>
                <a:latin typeface="Segoe UI"/>
              </a:rPr>
              <a:t>O portfólio não é um conjunto de sistemas isolados: quatro integrações já em produção ligam sensor, cadastro e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SENSORES E COLETA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7121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chuva MERGE/INPE → risco por trecho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3520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" y="370332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1421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relato do cidadão → incidente verificado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48840"/>
            <a:ext cx="27432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dirty="0">
                <a:solidFill>
                  <a:srgbClr val="5D8296"/>
                </a:solidFill>
                <a:latin typeface="Consolas"/>
              </a:rPr>
              <a:t>OPERAÇÃO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0288" y="292608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90288" y="292608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09744" y="310896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41985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rota que desvia do risco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01568" y="2834640"/>
            <a:ext cx="1188720" cy="36576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29000" y="270662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CAMADAS DE RISCO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1568" y="3611880"/>
            <a:ext cx="1188720" cy="365759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29000" y="3483863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14884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LEITURA DO TERRITÓRIO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2220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52220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41664" y="256032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IBGE · SECEX · MTE · ANTT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2220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E0A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522208" y="3520440"/>
            <a:ext cx="44450" cy="9144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41664" y="370332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1664" y="401421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sinistralidade e densidade da malha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PLATAFORMA CENTRAL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7824" y="53492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56601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metadados, identidade e grafo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493776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DECISÃO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90288" y="516636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09744" y="53492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9744" y="56601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carteira hierarquizada por AHP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93776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2220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52220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741664" y="53492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1664" y="56601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pesos e consistência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0156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29000" y="531266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LOGIN E CADASTROS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3348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60920" y="531266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 AHP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4 integrações em produção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Arquitetura  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SITUAÇÃO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Onde o portfólio está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1284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SERVIDOR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6459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21284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 NO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16459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221284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INTEGRAÇÕES ATIVAS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633472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017520"/>
            <a:ext cx="341162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Infraestrutura própria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520440"/>
            <a:ext cx="341162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dos Sistemas Maiores rodam em containers Docker atrás de um Nginx na instância EC2 do PLI, cada uma com seu banco PostgreSQL/PostGIS.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É a base madura do portfólio: disponível, versionada e integrada.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0034" y="3017520"/>
            <a:ext cx="341162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Hospedagem externa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034" y="3520440"/>
            <a:ext cx="341162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de Análises Exploratórias e Ferramentas estão no Render e hoje respondem Service Suspended.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Retomá-las exige decidir entre reativar o plano ou migrá-las para a mesma infraestrutura dos sistemas maiores.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1700" y="3017520"/>
            <a:ext cx="341162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Próximo passo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1700" y="3520440"/>
            <a:ext cx="341162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Concluir a análise aplicação por aplicação e classificar cada uma como produto, módulo, serviço compartilhado, biblioteca, ferramenta interna ou protótipo.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Só então definir a arquitetura da empresa e a estratégia comercial.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VPC-GEOSER · 31 de agosto de 2026     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2063</Words>
  <Application>Microsoft Office PowerPoint</Application>
  <PresentationFormat>Widescreen</PresentationFormat>
  <Paragraphs>388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VINICIUS DO PRADO CAPANEMA</cp:lastModifiedBy>
  <cp:revision>2</cp:revision>
  <dcterms:created xsi:type="dcterms:W3CDTF">2013-01-27T09:14:16Z</dcterms:created>
  <dcterms:modified xsi:type="dcterms:W3CDTF">2026-08-31T20:35:36Z</dcterms:modified>
  <cp:category/>
</cp:coreProperties>
</file>