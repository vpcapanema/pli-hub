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53935" y="0"/>
            <a:ext cx="4937760" cy="6858000"/>
          </a:xfrm>
          <a:prstGeom prst="rect">
            <a:avLst/>
          </a:prstGeom>
          <a:solidFill>
            <a:srgbClr val="08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253935" y="0"/>
            <a:ext cx="12700" cy="6858000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868680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3AA6D9"/>
                </a:solidFill>
                <a:latin typeface="Consolas"/>
              </a:rPr>
              <a:t>VPC-GEOSER · 31 DE AGOSTO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71600"/>
            <a:ext cx="6766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5000"/>
              </a:lnSpc>
            </a:pPr>
            <a:r>
              <a:rPr sz="8800" b="1">
                <a:solidFill>
                  <a:srgbClr val="E8F1F6"/>
                </a:solidFill>
                <a:latin typeface="Segoe UI Semibold"/>
              </a:rPr>
              <a:t>PLI 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429000"/>
            <a:ext cx="5669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8FB0C2"/>
                </a:solidFill>
                <a:latin typeface="Segoe UI"/>
              </a:rPr>
              <a:t>Portfólio de aplicações web do Programa Litoral Integrado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617720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APLICAÇÕES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82803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8F1F6"/>
                </a:solidFill>
                <a:latin typeface="Segoe UI"/>
              </a:rPr>
              <a:t>12 sistemas em 3 categorias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184648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CENTRAL DE ACESSO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39496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8F1F6"/>
                </a:solidFill>
                <a:latin typeface="Segoe UI"/>
              </a:rPr>
              <a:t>https://56.125.163.194/pli-hub/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751576"/>
            <a:ext cx="5943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RESPONSÁVEL TÉCNICO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6188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E8F1F6"/>
                </a:solidFill>
                <a:latin typeface="Segoe UI"/>
              </a:rPr>
              <a:t>Vinicius do Prado Capanema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94015" y="123444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8296"/>
                </a:solidFill>
                <a:latin typeface="Consolas"/>
              </a:rPr>
              <a:t>NESTE DOCUMENTO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94015" y="1645920"/>
            <a:ext cx="3657600" cy="3175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94015" y="1755648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A6D9"/>
                </a:solidFill>
                <a:latin typeface="Segoe UI Semibold"/>
              </a:rPr>
              <a:t>Sistemas Maiores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94015" y="202996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SIGMA-PLI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94015" y="2267712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SICARD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4015" y="2505456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PLI Smart Router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4015" y="2743200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PLI Reporta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94015" y="298094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PLI-HazardTrack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4015" y="321868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FAD-Stats 2.0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94015" y="3639312"/>
            <a:ext cx="3657600" cy="3175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94015" y="3749040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0A33A"/>
                </a:solidFill>
                <a:latin typeface="Segoe UI Semibold"/>
              </a:rPr>
              <a:t>Análises Exploratórias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94015" y="4023360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Acidentes Infosiga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94015" y="426110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Acidentes DER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94015" y="449884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Densidade Malha SP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94015" y="4919472"/>
            <a:ext cx="3657600" cy="3175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94015" y="5029200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EC26E"/>
                </a:solidFill>
                <a:latin typeface="Segoe UI Semibold"/>
              </a:rPr>
              <a:t>Ferramentas Analíticas e de Produção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94015" y="5303520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Calculadora Aderência 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94015" y="554126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AHP Tool Calculator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94015" y="5779008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2"/>
                </a:solidFill>
                <a:latin typeface="Segoe UI"/>
              </a:rPr>
              <a:t>Formulário Embarcadores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3AA6D9"/>
                </a:solidFill>
                <a:latin typeface="Consolas"/>
              </a:rPr>
              <a:t>PANORAMA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6868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E8F1F6"/>
                </a:solidFill>
                <a:latin typeface="Segoe UI Semibold"/>
              </a:rPr>
              <a:t>O portfólio em um relance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916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E8F1F6"/>
                </a:solidFill>
                <a:latin typeface="Segoe UI Semibold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2860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APLICAÇÕES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44368" y="16916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E8F1F6"/>
                </a:solidFill>
                <a:latin typeface="Segoe UI Semibol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44368" y="22860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CATEGORIAS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16916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3EC26E"/>
                </a:solidFill>
                <a:latin typeface="Segoe UI Semibold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22860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NO AR HOJE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8" y="16916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E0A33A"/>
                </a:solidFill>
                <a:latin typeface="Segoe UI Semibold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8" y="22860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SUSPENSAS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69748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3017520"/>
            <a:ext cx="3411626" cy="381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200400"/>
            <a:ext cx="341162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3AA6D9"/>
                </a:solidFill>
                <a:latin typeface="Segoe UI Semibold"/>
              </a:rPr>
              <a:t>Sistemas Maiores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749039"/>
            <a:ext cx="341162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6 aplicações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114800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" y="4096512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SIGMA-PLI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68826" y="4160520"/>
            <a:ext cx="91440" cy="914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4389120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517136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" y="4498848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SICARD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68826" y="4562856"/>
            <a:ext cx="91440" cy="914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791456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919472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" y="4901184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PLI Smart Router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68826" y="4965192"/>
            <a:ext cx="91440" cy="914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193792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5321808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" y="5303520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PLI Reporta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68826" y="5367528"/>
            <a:ext cx="91440" cy="914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596128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5724144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" y="5705856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PLI-HazardTrack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68826" y="5769864"/>
            <a:ext cx="91440" cy="914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5998464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126480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6" y="6108192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FAD-Stats 2.0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68826" y="6172200"/>
            <a:ext cx="91440" cy="914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6400800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90034" y="3017520"/>
            <a:ext cx="3411626" cy="3810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90034" y="3200400"/>
            <a:ext cx="341162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E0A33A"/>
                </a:solidFill>
                <a:latin typeface="Segoe UI Semibold"/>
              </a:rPr>
              <a:t>Análises Exploratórias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90034" y="3749039"/>
            <a:ext cx="341162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3 aplicações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90034" y="4114800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74082" y="4096512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Acidentes Infosiga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600492" y="4160520"/>
            <a:ext cx="91440" cy="914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390034" y="4389120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90034" y="4517136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74082" y="4498848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Acidentes DER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00492" y="4562856"/>
            <a:ext cx="91440" cy="914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390034" y="4791456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90034" y="4919472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74082" y="4901184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Densidade Malha SP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600492" y="4965192"/>
            <a:ext cx="91440" cy="914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390034" y="5193792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121700" y="3017520"/>
            <a:ext cx="3411626" cy="381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21700" y="3200400"/>
            <a:ext cx="341162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3EC26E"/>
                </a:solidFill>
                <a:latin typeface="Segoe UI Semibold"/>
              </a:rPr>
              <a:t>Ferramentas Analíticas e de Produção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21700" y="3749039"/>
            <a:ext cx="341162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3 aplicações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21700" y="4114800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5748" y="4096512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Calculadora Aderência 2.0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1332159" y="4160520"/>
            <a:ext cx="91440" cy="914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121700" y="4389120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21700" y="4517136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05748" y="4498848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AHP Tool Calculator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332159" y="4562856"/>
            <a:ext cx="91440" cy="914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121700" y="4791456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121700" y="4919472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03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05748" y="4901184"/>
            <a:ext cx="268010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F1F6"/>
                </a:solidFill>
                <a:latin typeface="Segoe UI"/>
              </a:rPr>
              <a:t>Formulário Embarcadores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1332159" y="4965192"/>
            <a:ext cx="91440" cy="914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121700" y="5193792"/>
            <a:ext cx="3320186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58368" y="6144768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https://56.125.163.194/pli-hub/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61327" y="629107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Panorama     02/17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3AA6D9"/>
                </a:solidFill>
                <a:latin typeface="Consolas"/>
              </a:rPr>
              <a:t>APLICAÇÃO 01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502920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8296"/>
                </a:solidFill>
                <a:latin typeface="Consolas"/>
              </a:rPr>
              <a:t>SISTEMAS MAIORES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73207" y="457200"/>
            <a:ext cx="731520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51560"/>
            <a:ext cx="5577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E8F1F6"/>
                </a:solidFill>
                <a:latin typeface="Segoe UI Semibold"/>
              </a:rPr>
              <a:t>SIGMA-PLI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74519"/>
            <a:ext cx="5577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FB0C2"/>
                </a:solidFill>
                <a:latin typeface="Segoe UI"/>
              </a:rPr>
              <a:t>Sistema Integrado de Gestão, Monitoramento e Apoio Técnico ao Plano de Legado de Informações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5577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E8F1F6"/>
                </a:solidFill>
                <a:latin typeface="Segoe UI"/>
              </a:rPr>
              <a:t>Cataloga, organiza e disponibiliza os dados técnicos do Plano de Legado de Informações do Estado de São Paulo. É a plataforma central: além de entregar valor por si só, fornece autenticação e cadastro de pessoas e instituições para as demais aplicações.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892040"/>
            <a:ext cx="38100" cy="384048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93776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AA6D9"/>
                </a:solidFill>
                <a:latin typeface="Segoe UI Semibold"/>
              </a:rPr>
              <a:t>Plataforma central do ecossistema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93408" y="1051560"/>
            <a:ext cx="4839919" cy="4590288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77456" y="1353312"/>
            <a:ext cx="407182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77456" y="1847088"/>
            <a:ext cx="146304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0064" y="1755648"/>
            <a:ext cx="3779215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Catálogo de metadados com upload, indexação e busca avançada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77456" y="2395728"/>
            <a:ext cx="146304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4" y="2304288"/>
            <a:ext cx="3779215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Autenticação JWT e cadastro PF/PJ com verificação de e-mail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77456" y="2944368"/>
            <a:ext cx="146304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70064" y="2852928"/>
            <a:ext cx="3779215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Grafo de conhecimento em Memgraph para descobrir relações entre dados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77456" y="3493008"/>
            <a:ext cx="146304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70064" y="3401568"/>
            <a:ext cx="3779215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WebGIS próprio: camadas OGC (WMS/WFS) publicadas via GeoServer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77456" y="4041648"/>
            <a:ext cx="146304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0064" y="3950208"/>
            <a:ext cx="3779215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Dashboards interativos em R Shiny e painel administrativo completo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77456" y="4672584"/>
            <a:ext cx="4071823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77456" y="4855464"/>
            <a:ext cx="171450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FastAPI · Python 3.12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83396" y="4855464"/>
            <a:ext cx="185166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PostgreSQL 17 + PostGIS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77456" y="5184648"/>
            <a:ext cx="82296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Memgraph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91856" y="5184648"/>
            <a:ext cx="89154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GeoServer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74836" y="5184648"/>
            <a:ext cx="75438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R Shiny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20656" y="5184648"/>
            <a:ext cx="116586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Cloudflare R2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77456" y="5513832"/>
            <a:ext cx="123444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Docker + Nginx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6144768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https://56.125.163.194/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61327" y="629107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     03/17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3AA6D9"/>
                </a:solidFill>
                <a:latin typeface="Consolas"/>
              </a:rPr>
              <a:t>SIGMA-PLI · POR DENTRO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686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8F1F6"/>
                </a:solidFill>
                <a:latin typeface="Segoe UI Semibold"/>
              </a:rPr>
              <a:t>A plataforma central, módulo a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72768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8FB0C2"/>
                </a:solidFill>
                <a:latin typeface="Segoe UI"/>
              </a:rPr>
              <a:t>Cada módulo é uma área funcional própria. Juntos, formam a base sobre a qual as outras aplicações do PLI se apoiam.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286000"/>
            <a:ext cx="2526715" cy="1024128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286000"/>
            <a:ext cx="38100" cy="1024128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2404872"/>
            <a:ext cx="216095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M00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615184"/>
            <a:ext cx="216095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8F1F6"/>
                </a:solidFill>
                <a:latin typeface="Segoe UI Semibold"/>
              </a:rPr>
              <a:t>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871216"/>
            <a:ext cx="216095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Página pública, status do sistema e health checks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41115" y="2286000"/>
            <a:ext cx="2526715" cy="1024128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41115" y="2286000"/>
            <a:ext cx="38100" cy="1024128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2283" y="2404872"/>
            <a:ext cx="216095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M01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2615184"/>
            <a:ext cx="216095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8F1F6"/>
                </a:solidFill>
                <a:latin typeface="Segoe UI Semibold"/>
              </a:rPr>
              <a:t>Auth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2283" y="2871216"/>
            <a:ext cx="216095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Login, cadastro PF/PJ e verificação de e-mail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3863" y="2286000"/>
            <a:ext cx="2526715" cy="1024128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3863" y="2286000"/>
            <a:ext cx="38100" cy="1024128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5031" y="2404872"/>
            <a:ext cx="216095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M02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5031" y="2615184"/>
            <a:ext cx="216095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8F1F6"/>
                </a:solidFill>
                <a:latin typeface="Segoe UI Semibold"/>
              </a:rPr>
              <a:t>Dashboard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5031" y="2871216"/>
            <a:ext cx="216095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Painel pós-login, KPIs e navegação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611" y="2286000"/>
            <a:ext cx="2526715" cy="1024128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06611" y="2286000"/>
            <a:ext cx="38100" cy="1024128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07779" y="2404872"/>
            <a:ext cx="216095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M03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07779" y="2615184"/>
            <a:ext cx="216095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8F1F6"/>
                </a:solidFill>
                <a:latin typeface="Segoe UI Semibold"/>
              </a:rPr>
              <a:t>Dicionário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07779" y="2871216"/>
            <a:ext cx="216095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Catálogo de metadados, upload S3 e WebGIS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3493008"/>
            <a:ext cx="2526715" cy="1024128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3493008"/>
            <a:ext cx="38100" cy="1024128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3611880"/>
            <a:ext cx="216095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M04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3822192"/>
            <a:ext cx="216095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8F1F6"/>
                </a:solidFill>
                <a:latin typeface="Segoe UI Semibold"/>
              </a:rPr>
              <a:t>Minha Área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" y="4078224"/>
            <a:ext cx="216095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Perfil, calendário, tarefas e uploads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41115" y="3493008"/>
            <a:ext cx="2526715" cy="1024128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441115" y="3493008"/>
            <a:ext cx="38100" cy="1024128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42283" y="3611880"/>
            <a:ext cx="216095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M05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42283" y="3822192"/>
            <a:ext cx="216095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8F1F6"/>
                </a:solidFill>
                <a:latin typeface="Segoe UI Semibold"/>
              </a:rPr>
              <a:t>Calendário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42283" y="4078224"/>
            <a:ext cx="216095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Calendário de atividades e eventos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23863" y="3493008"/>
            <a:ext cx="2526715" cy="1024128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23863" y="3493008"/>
            <a:ext cx="38100" cy="1024128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25031" y="3611880"/>
            <a:ext cx="216095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M06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5031" y="3822192"/>
            <a:ext cx="216095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8F1F6"/>
                </a:solidFill>
                <a:latin typeface="Segoe UI Semibold"/>
              </a:rPr>
              <a:t>Relatórios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25031" y="4078224"/>
            <a:ext cx="216095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Relatórios de cadastros e usuários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006611" y="3493008"/>
            <a:ext cx="2526715" cy="1024128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006611" y="3493008"/>
            <a:ext cx="38100" cy="1024128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07779" y="3611880"/>
            <a:ext cx="216095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M07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7779" y="3822192"/>
            <a:ext cx="216095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8F1F6"/>
                </a:solidFill>
                <a:latin typeface="Segoe UI Semibold"/>
              </a:rPr>
              <a:t>Ferramentas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07779" y="4078224"/>
            <a:ext cx="216095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Hub de ferramentas, GeoServer ETL e Shiny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4700016"/>
            <a:ext cx="2526715" cy="1024128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58368" y="4700016"/>
            <a:ext cx="38100" cy="1024128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9536" y="4818888"/>
            <a:ext cx="216095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M08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9536" y="5029200"/>
            <a:ext cx="216095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8F1F6"/>
                </a:solidFill>
                <a:latin typeface="Segoe UI Semibold"/>
              </a:rPr>
              <a:t>Management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9536" y="5285232"/>
            <a:ext cx="216095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Painel admin, cadastros, sessões e solicitações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41115" y="4700016"/>
            <a:ext cx="2526715" cy="1024128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441115" y="4700016"/>
            <a:ext cx="38100" cy="1024128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42283" y="4818888"/>
            <a:ext cx="216095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M09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42283" y="5029200"/>
            <a:ext cx="216095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8F1F6"/>
                </a:solidFill>
                <a:latin typeface="Segoe UI Semibold"/>
              </a:rPr>
              <a:t>Memgraph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42283" y="5285232"/>
            <a:ext cx="216095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Explorador de grafo, busca e governança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23863" y="4700016"/>
            <a:ext cx="2526715" cy="1024128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23863" y="4700016"/>
            <a:ext cx="38100" cy="1024128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5031" y="4818888"/>
            <a:ext cx="216095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AA6D9"/>
                </a:solidFill>
                <a:latin typeface="Consolas"/>
              </a:rPr>
              <a:t>MX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5031" y="5029200"/>
            <a:ext cx="216095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8F1F6"/>
                </a:solidFill>
                <a:latin typeface="Segoe UI Semibold"/>
              </a:rPr>
              <a:t>SIGMA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25031" y="5285232"/>
            <a:ext cx="216095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FB0C2"/>
                </a:solidFill>
                <a:latin typeface="Segoe UI"/>
              </a:rPr>
              <a:t>Monitoramento de infraestrutura e da VM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6144768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https://56.125.163.194/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61327" y="629107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     04/17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3AA6D9"/>
                </a:solidFill>
                <a:latin typeface="Consolas"/>
              </a:rPr>
              <a:t>APLICAÇÃO 02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502920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8296"/>
                </a:solidFill>
                <a:latin typeface="Consolas"/>
              </a:rPr>
              <a:t>SISTEMAS MAIORES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73207" y="457200"/>
            <a:ext cx="731520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51560"/>
            <a:ext cx="5577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E8F1F6"/>
                </a:solidFill>
                <a:latin typeface="Segoe UI Semibold"/>
              </a:rPr>
              <a:t>SICARD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74519"/>
            <a:ext cx="5577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FB0C2"/>
                </a:solidFill>
                <a:latin typeface="Segoe UI"/>
              </a:rPr>
              <a:t>Sistema Inteligente de Cadastro e Ranking de Demandas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5577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E8F1F6"/>
                </a:solidFill>
                <a:latin typeface="Segoe UI"/>
              </a:rPr>
              <a:t>Cadastra, analisa, hierarquiza e acompanha planos, programas e projetos. Combina análise multicritério AHP, processamento geoespacial e trilha de auditoria para transformar demandas soltas em uma carteira priorizada.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892040"/>
            <a:ext cx="38100" cy="384048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93776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AA6D9"/>
                </a:solidFill>
                <a:latin typeface="Segoe UI Semibold"/>
              </a:rPr>
              <a:t>Apoio à decisão sobre a carteira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93408" y="1051560"/>
            <a:ext cx="4839919" cy="4590288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77456" y="1353312"/>
            <a:ext cx="407182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77456" y="1847088"/>
            <a:ext cx="146304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0064" y="1755648"/>
            <a:ext cx="3779215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Hierarquização multicritério por AHP, com pesos auditáveis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77456" y="2395728"/>
            <a:ext cx="146304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4" y="2304288"/>
            <a:ext cx="3779215" cy="214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Triagem socioambiental e favorabilidade territorial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77456" y="2729484"/>
            <a:ext cx="146304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70064" y="2638044"/>
            <a:ext cx="3779215" cy="214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Bancadas espaciais e painéis de acompanhamento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77456" y="3063240"/>
            <a:ext cx="146304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70064" y="2971800"/>
            <a:ext cx="3779215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Login e cadastro de pessoas e instituições consumidos do SIGMA-PLI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77456" y="3611880"/>
            <a:ext cx="146304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0064" y="3520440"/>
            <a:ext cx="3779215" cy="214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Trilha de auditoria de ponta a ponta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77456" y="4672584"/>
            <a:ext cx="4071823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77456" y="4855464"/>
            <a:ext cx="178308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FastAPI · Python 3.11+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51976" y="4855464"/>
            <a:ext cx="212598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PostgreSQL 17 + PostGIS 3.5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77456" y="5184648"/>
            <a:ext cx="102870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HTML/CSS/JS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97596" y="5184648"/>
            <a:ext cx="137160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API do SIGMA-PLI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144768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https://56.125.163.194/sicard/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1327" y="629107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     05/17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3AA6D9"/>
                </a:solidFill>
                <a:latin typeface="Consolas"/>
              </a:rPr>
              <a:t>APLICAÇÃO 03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502920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8296"/>
                </a:solidFill>
                <a:latin typeface="Consolas"/>
              </a:rPr>
              <a:t>SISTEMAS MAIORES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73207" y="457200"/>
            <a:ext cx="731520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51560"/>
            <a:ext cx="5577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E8F1F6"/>
                </a:solidFill>
                <a:latin typeface="Segoe UI Semibold"/>
              </a:rPr>
              <a:t>PLI Smart Router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74519"/>
            <a:ext cx="5577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FB0C2"/>
                </a:solidFill>
                <a:latin typeface="Segoe UI"/>
              </a:rPr>
              <a:t>Roteirizador com resiliência climática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5577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E8F1F6"/>
                </a:solidFill>
                <a:latin typeface="Segoe UI"/>
              </a:rPr>
              <a:t>Calcula rotas reais sobre a malha do PLI/SP 2050, sobrepõe os alertas em tempo real do HazardTrack e do PLI Reporta e recalcula o trajeto automaticamente, desviando das áreas afetadas.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892040"/>
            <a:ext cx="38100" cy="384048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93776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AA6D9"/>
                </a:solidFill>
                <a:latin typeface="Segoe UI Semibold"/>
              </a:rPr>
              <a:t>Onde o alerta vira decisão operacional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93408" y="1051560"/>
            <a:ext cx="4839919" cy="4590288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77456" y="1353312"/>
            <a:ext cx="407182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77456" y="1847088"/>
            <a:ext cx="146304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0064" y="1755648"/>
            <a:ext cx="3779215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Origem e destino por coordenada, busca textual ou clique no mapa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77456" y="2395728"/>
            <a:ext cx="146304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4" y="2304288"/>
            <a:ext cx="3779215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Geocoding automático: CEP via ViaCEP, endereço via Nominatim/OSM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77456" y="2944368"/>
            <a:ext cx="146304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70064" y="2852928"/>
            <a:ext cx="3779215" cy="214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Roteamento OSRM com waypoints intermediários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77456" y="3278124"/>
            <a:ext cx="146304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70064" y="3186684"/>
            <a:ext cx="3779215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Camadas ao vivo de risco (HazardTrack) e de incidentes (PLI Reporta)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77456" y="3826764"/>
            <a:ext cx="146304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0064" y="3735324"/>
            <a:ext cx="3779215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Smart route: rota alternativa com buffer de segurança de 500 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77456" y="4672584"/>
            <a:ext cx="4071823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77456" y="4855464"/>
            <a:ext cx="61722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Flask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86116" y="4855464"/>
            <a:ext cx="75438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Leaflet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31936" y="4855464"/>
            <a:ext cx="164592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OSRM · OpenStreetMap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77456" y="5184648"/>
            <a:ext cx="150876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Nominatim · ViaCEP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144768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https://56.125.163.194/smart-router/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1327" y="629107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     06/17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3AA6D9"/>
                </a:solidFill>
                <a:latin typeface="Consolas"/>
              </a:rPr>
              <a:t>APLICAÇÃO 04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502920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8296"/>
                </a:solidFill>
                <a:latin typeface="Consolas"/>
              </a:rPr>
              <a:t>SISTEMAS MAIORES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73207" y="457200"/>
            <a:ext cx="731520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51560"/>
            <a:ext cx="5577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E8F1F6"/>
                </a:solidFill>
                <a:latin typeface="Segoe UI Semibold"/>
              </a:rPr>
              <a:t>PLI Reporta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74519"/>
            <a:ext cx="5577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FB0C2"/>
                </a:solidFill>
                <a:latin typeface="Segoe UI"/>
              </a:rPr>
              <a:t>PWA colaborativa de reportes viários georreferenciados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5577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E8F1F6"/>
                </a:solidFill>
                <a:latin typeface="Segoe UI"/>
              </a:rPr>
              <a:t>Aplicativo mobile-first em que o cidadão reporta ocorrências na via. Os relatos passam por um pipeline de veracidade e relevância e só então alimentam os serviços de roteamento e alerta como incidentes verificados.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892040"/>
            <a:ext cx="38100" cy="384048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93776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AA6D9"/>
                </a:solidFill>
                <a:latin typeface="Segoe UI Semibold"/>
              </a:rPr>
              <a:t>A camada de incidentes verificados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93408" y="1051560"/>
            <a:ext cx="4839919" cy="4590288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77456" y="1353312"/>
            <a:ext cx="407182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77456" y="1847088"/>
            <a:ext cx="146304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0064" y="1755648"/>
            <a:ext cx="3779215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Reportes de buraco, alagamento, acidente, bloqueio, obra e sinalização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77456" y="2395728"/>
            <a:ext cx="146304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4" y="2304288"/>
            <a:ext cx="3779215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Pipeline de veracidade e relevância antes da publicação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77456" y="2944368"/>
            <a:ext cx="146304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70064" y="2852928"/>
            <a:ext cx="3779215" cy="214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Mapa público e fluxo de moderação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77456" y="3278124"/>
            <a:ext cx="146304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70064" y="3186684"/>
            <a:ext cx="3779215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Endpoint GeoJSON estável para integração com o roteador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77456" y="3826764"/>
            <a:ext cx="146304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0064" y="3735324"/>
            <a:ext cx="3779215" cy="214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Instalável como PWA, pensado para uso em campo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77456" y="4672584"/>
            <a:ext cx="4071823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77456" y="4855464"/>
            <a:ext cx="144018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FastAPI · Uvicorn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09076" y="4855464"/>
            <a:ext cx="75438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PostGIS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54896" y="4855464"/>
            <a:ext cx="137160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PWA mobile-first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77456" y="5184648"/>
            <a:ext cx="75438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GeoJSON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144768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https://56.125.163.194/pli-reporta/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1327" y="629107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     07/17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3AA6D9"/>
                </a:solidFill>
                <a:latin typeface="Consolas"/>
              </a:rPr>
              <a:t>APLICAÇÃO 05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502920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8296"/>
                </a:solidFill>
                <a:latin typeface="Consolas"/>
              </a:rPr>
              <a:t>SISTEMAS MAIORES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73207" y="457200"/>
            <a:ext cx="731520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51560"/>
            <a:ext cx="5577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E8F1F6"/>
                </a:solidFill>
                <a:latin typeface="Segoe UI Semibold"/>
              </a:rPr>
              <a:t>PLI-HazardTrack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74519"/>
            <a:ext cx="5577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FB0C2"/>
                </a:solidFill>
                <a:latin typeface="Segoe UI"/>
              </a:rPr>
              <a:t>SAMAEG-PLI · Monitoramento, Análise e Alerta Geodinâmico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5577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E8F1F6"/>
                </a:solidFill>
                <a:latin typeface="Segoe UI"/>
              </a:rPr>
              <a:t>Monitora chuva em streaming e traduz o dado bruto em risco por trecho rodoviário do DER-SP. Implementa o conceito do Produto 06 do relatório REGEA-NIPPON 2021, com o modelo oficial de Risco Dinâmico.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892040"/>
            <a:ext cx="38100" cy="384048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93776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AA6D9"/>
                </a:solidFill>
                <a:latin typeface="Segoe UI Semibold"/>
              </a:rPr>
              <a:t>O sensor climático da malha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93408" y="1051560"/>
            <a:ext cx="4839919" cy="4590288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77456" y="1353312"/>
            <a:ext cx="407182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77456" y="1847088"/>
            <a:ext cx="146304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0064" y="1755648"/>
            <a:ext cx="3779215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Dados reais de chuva MERGE/CPTEC/INPE consumidos em streaming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77456" y="2395728"/>
            <a:ext cx="146304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4" y="2304288"/>
            <a:ext cx="3779215" cy="214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Modelo de Risco Dinâmico RD = RA × ICC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77456" y="2729484"/>
            <a:ext cx="146304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70064" y="2638044"/>
            <a:ext cx="3779215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Quatro regiões climático-geológico-geomorfológicas do litoral norte e da baixada santista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77456" y="3278124"/>
            <a:ext cx="146304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70064" y="3186684"/>
            <a:ext cx="3779215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Camadas de movimento de massa, inundação e risco de fogo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77456" y="3826764"/>
            <a:ext cx="146304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0064" y="3735324"/>
            <a:ext cx="3779215" cy="214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Níveis operacionais compatíveis com o PPDC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77456" y="4672584"/>
            <a:ext cx="4071823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77456" y="4855464"/>
            <a:ext cx="68580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54696" y="4855464"/>
            <a:ext cx="137160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MERGE/CPTEC/INPE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17736" y="4855464"/>
            <a:ext cx="75438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PostGIS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63556" y="4855464"/>
            <a:ext cx="68580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Docker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144768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https://56.125.163.194/pli-hazardtrack/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1327" y="629107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     08/17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3AA6D9"/>
                </a:solidFill>
                <a:latin typeface="Consolas"/>
              </a:rPr>
              <a:t>APLICAÇÃO 06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502920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8296"/>
                </a:solidFill>
                <a:latin typeface="Consolas"/>
              </a:rPr>
              <a:t>SISTEMAS MAIORES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73207" y="457200"/>
            <a:ext cx="731520" cy="237744"/>
          </a:xfrm>
          <a:prstGeom prst="roundRect">
            <a:avLst>
              <a:gd name="adj" fmla="val 15000"/>
            </a:avLst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>
                <a:solidFill>
                  <a:srgbClr val="0A2A16"/>
                </a:solidFill>
                <a:latin typeface="Consolas"/>
              </a:rPr>
              <a:t>NO 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51560"/>
            <a:ext cx="5577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E8F1F6"/>
                </a:solidFill>
                <a:latin typeface="Segoe UI Semibold"/>
              </a:rPr>
              <a:t>FAD-Stats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74519"/>
            <a:ext cx="5577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FB0C2"/>
                </a:solidFill>
                <a:latin typeface="Segoe UI"/>
              </a:rPr>
              <a:t>Ferramenta de Análise Dinamizada de Dados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5577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E8F1F6"/>
                </a:solidFill>
                <a:latin typeface="Segoe UI"/>
              </a:rPr>
              <a:t>Plataforma de análise estatística e espacial de dados oficiais. Reúne produção agropecuária, comércio exterior, mercado de trabalho e logística em uma única bancada de exploração.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892040"/>
            <a:ext cx="38100" cy="384048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93776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AA6D9"/>
                </a:solidFill>
                <a:latin typeface="Segoe UI Semibold"/>
              </a:rPr>
              <a:t>Leitura socioeconômica do território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93408" y="1051560"/>
            <a:ext cx="4839919" cy="4590288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77456" y="1353312"/>
            <a:ext cx="407182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77456" y="1847088"/>
            <a:ext cx="146304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0064" y="1755648"/>
            <a:ext cx="3779215" cy="214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Fontes oficiais: IBGE, SECEX, MTE e ANTT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77456" y="2180844"/>
            <a:ext cx="146304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4" y="2089404"/>
            <a:ext cx="3779215" cy="214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21 tipos de gráfico e 6 tipos de mapa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77456" y="2514600"/>
            <a:ext cx="146304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70064" y="2423160"/>
            <a:ext cx="3779215" cy="214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Recortes municipais e regionais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77456" y="2848356"/>
            <a:ext cx="146304" cy="1524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70064" y="2756916"/>
            <a:ext cx="3779215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Interface pública com a barra padrão do Governo de São Paulo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77456" y="4672584"/>
            <a:ext cx="4071823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77456" y="4855464"/>
            <a:ext cx="68580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54696" y="4855464"/>
            <a:ext cx="116586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PostgreSQL 17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11996" y="4855464"/>
            <a:ext cx="68580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Docker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89236" y="4855464"/>
            <a:ext cx="61722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Nginx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144768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https://56.125.163.194/fad-stats/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1327" y="629107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Sistemas Maiores     09/17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E0A33A"/>
                </a:solidFill>
                <a:latin typeface="Consolas"/>
              </a:rPr>
              <a:t>APLICAÇÃO 07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502920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8296"/>
                </a:solidFill>
                <a:latin typeface="Consolas"/>
              </a:rPr>
              <a:t>ANÁLISES EXPLORATÓRIAS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44607" y="457200"/>
            <a:ext cx="950976" cy="237744"/>
          </a:xfrm>
          <a:prstGeom prst="roundRect">
            <a:avLst>
              <a:gd name="adj" fmla="val 15000"/>
            </a:avLst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>
                <a:solidFill>
                  <a:srgbClr val="2A1408"/>
                </a:solidFill>
                <a:latin typeface="Consolas"/>
              </a:rPr>
              <a:t>SUSPENSA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51560"/>
            <a:ext cx="5577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E8F1F6"/>
                </a:solidFill>
                <a:latin typeface="Segoe UI Semibold"/>
              </a:rPr>
              <a:t>Acidentes Infosiga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74519"/>
            <a:ext cx="5577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FB0C2"/>
                </a:solidFill>
                <a:latin typeface="Segoe UI"/>
              </a:rPr>
              <a:t>Análise exploratória da base Infosiga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5577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E8F1F6"/>
                </a:solidFill>
                <a:latin typeface="Segoe UI"/>
              </a:rPr>
              <a:t>Análise exploratória dos acidentes registrados no sistema Infosiga, com filtros por período, tipo de ocorrência e localização.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892040"/>
            <a:ext cx="38100" cy="384048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93776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0A33A"/>
                </a:solidFill>
                <a:latin typeface="Segoe UI Semibold"/>
              </a:rPr>
              <a:t>Diagnóstico de sinistralidade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93408" y="1051560"/>
            <a:ext cx="4839919" cy="4590288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77456" y="1353312"/>
            <a:ext cx="407182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77456" y="1847088"/>
            <a:ext cx="146304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0064" y="1755648"/>
            <a:ext cx="3779215" cy="214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Base oficial Infosiga de sinistros de trânsito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77456" y="2180844"/>
            <a:ext cx="146304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4" y="2089404"/>
            <a:ext cx="3779215" cy="214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Filtros por período, tipo e localização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77456" y="2514600"/>
            <a:ext cx="146304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70064" y="2423160"/>
            <a:ext cx="3779215" cy="214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Visualizações interativas de séries e distribuições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77456" y="4672584"/>
            <a:ext cx="4071823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077456" y="4855464"/>
            <a:ext cx="68580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54696" y="4855464"/>
            <a:ext cx="68580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Render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6144768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https://acidentes-infosiga.onrender.com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1327" y="629107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Análises Exploratórias     10/17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E0A33A"/>
                </a:solidFill>
                <a:latin typeface="Consolas"/>
              </a:rPr>
              <a:t>APLICAÇÃO 08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502920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8296"/>
                </a:solidFill>
                <a:latin typeface="Consolas"/>
              </a:rPr>
              <a:t>ANÁLISES EXPLORATÓRIAS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44607" y="457200"/>
            <a:ext cx="950976" cy="237744"/>
          </a:xfrm>
          <a:prstGeom prst="roundRect">
            <a:avLst>
              <a:gd name="adj" fmla="val 15000"/>
            </a:avLst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>
                <a:solidFill>
                  <a:srgbClr val="2A1408"/>
                </a:solidFill>
                <a:latin typeface="Consolas"/>
              </a:rPr>
              <a:t>SUSPENSA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51560"/>
            <a:ext cx="5577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E8F1F6"/>
                </a:solidFill>
                <a:latin typeface="Segoe UI Semibold"/>
              </a:rPr>
              <a:t>Acidentes 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74519"/>
            <a:ext cx="5577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FB0C2"/>
                </a:solidFill>
                <a:latin typeface="Segoe UI"/>
              </a:rPr>
              <a:t>Análise exploratória da base do DER-SP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5577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E8F1F6"/>
                </a:solidFill>
                <a:latin typeface="Segoe UI"/>
              </a:rPr>
              <a:t>Análise exploratória dos acidentes registrados pelo DER-SP, organizada por rodovia e por período.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892040"/>
            <a:ext cx="38100" cy="384048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93776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0A33A"/>
                </a:solidFill>
                <a:latin typeface="Segoe UI Semibold"/>
              </a:rPr>
              <a:t>Sinistralidade por rodovia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93408" y="1051560"/>
            <a:ext cx="4839919" cy="4590288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77456" y="1353312"/>
            <a:ext cx="407182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77456" y="1847088"/>
            <a:ext cx="146304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0064" y="1755648"/>
            <a:ext cx="3779215" cy="214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Recorte por rodovia sob gestão do DER-SP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77456" y="2180844"/>
            <a:ext cx="146304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4" y="2089404"/>
            <a:ext cx="3779215" cy="214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Séries temporais e comparação entre trechos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77456" y="2514600"/>
            <a:ext cx="146304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70064" y="2423160"/>
            <a:ext cx="3779215" cy="214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Insumo direto para priorização de intervenções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77456" y="4672584"/>
            <a:ext cx="4071823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077456" y="4855464"/>
            <a:ext cx="68580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54696" y="4855464"/>
            <a:ext cx="68580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Render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6144768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https://acidentes-der-analise-exploratoria.onrender.com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1327" y="629107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Análises Exploratórias     11/17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E0A33A"/>
                </a:solidFill>
                <a:latin typeface="Consolas"/>
              </a:rPr>
              <a:t>APLICAÇÃO 09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502920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8296"/>
                </a:solidFill>
                <a:latin typeface="Consolas"/>
              </a:rPr>
              <a:t>ANÁLISES EXPLORATÓRIAS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44607" y="457200"/>
            <a:ext cx="950976" cy="237744"/>
          </a:xfrm>
          <a:prstGeom prst="roundRect">
            <a:avLst>
              <a:gd name="adj" fmla="val 15000"/>
            </a:avLst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>
                <a:solidFill>
                  <a:srgbClr val="2A1408"/>
                </a:solidFill>
                <a:latin typeface="Consolas"/>
              </a:rPr>
              <a:t>SUSPENSA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51560"/>
            <a:ext cx="5577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E8F1F6"/>
                </a:solidFill>
                <a:latin typeface="Segoe UI Semibold"/>
              </a:rPr>
              <a:t>Densidade Malha SP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74519"/>
            <a:ext cx="5577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FB0C2"/>
                </a:solidFill>
                <a:latin typeface="Segoe UI"/>
              </a:rPr>
              <a:t>Densidade da malha viária estadual paulista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5577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E8F1F6"/>
                </a:solidFill>
                <a:latin typeface="Segoe UI"/>
              </a:rPr>
              <a:t>Mede e visualiza a densidade da malha viária estadual por trecho e por região, expondo vazios e concentrações de cobertura.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892040"/>
            <a:ext cx="38100" cy="384048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93776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0A33A"/>
                </a:solidFill>
                <a:latin typeface="Segoe UI Semibold"/>
              </a:rPr>
              <a:t>Cobertura da rede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93408" y="1051560"/>
            <a:ext cx="4839919" cy="4590288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77456" y="1353312"/>
            <a:ext cx="407182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77456" y="1847088"/>
            <a:ext cx="146304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0064" y="1755648"/>
            <a:ext cx="3779215" cy="214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Densidade calculada por trecho e por região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77456" y="2180844"/>
            <a:ext cx="146304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4" y="2089404"/>
            <a:ext cx="3779215" cy="214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Leitura territorial dos vazios de cobertura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77456" y="2514600"/>
            <a:ext cx="146304" cy="1524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70064" y="2423160"/>
            <a:ext cx="3779215" cy="214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Base para estudos de expansão da malha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77456" y="4672584"/>
            <a:ext cx="4071823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077456" y="4855464"/>
            <a:ext cx="68580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54696" y="4855464"/>
            <a:ext cx="68580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Render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6144768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https://densidade-de-malha-estadual-sp.onrender.com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1327" y="629107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Análises Exploratórias     12/17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3EC26E"/>
                </a:solidFill>
                <a:latin typeface="Consolas"/>
              </a:rPr>
              <a:t>APLICAÇÃO 10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502920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8296"/>
                </a:solidFill>
                <a:latin typeface="Consolas"/>
              </a:rPr>
              <a:t>FERRAMENTAS ANALÍTICAS E DE PRODUÇÃO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44607" y="457200"/>
            <a:ext cx="950976" cy="237744"/>
          </a:xfrm>
          <a:prstGeom prst="roundRect">
            <a:avLst>
              <a:gd name="adj" fmla="val 15000"/>
            </a:avLst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>
                <a:solidFill>
                  <a:srgbClr val="2A1408"/>
                </a:solidFill>
                <a:latin typeface="Consolas"/>
              </a:rPr>
              <a:t>SUSPENSA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51560"/>
            <a:ext cx="5577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E8F1F6"/>
                </a:solidFill>
                <a:latin typeface="Segoe UI Semibold"/>
              </a:rPr>
              <a:t>Calculadora Aderência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74519"/>
            <a:ext cx="5577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FB0C2"/>
                </a:solidFill>
                <a:latin typeface="Segoe UI"/>
              </a:rPr>
              <a:t>Aderência de indicadores a metas e resultados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5577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E8F1F6"/>
                </a:solidFill>
                <a:latin typeface="Segoe UI"/>
              </a:rPr>
              <a:t>Calcula a aderência de indicadores para avaliar a conformidade de metas e resultados, padronizando o julgamento entre equipes.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892040"/>
            <a:ext cx="38100" cy="384048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93776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EC26E"/>
                </a:solidFill>
                <a:latin typeface="Segoe UI Semibold"/>
              </a:rPr>
              <a:t>Conformidade de indicadores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93408" y="1051560"/>
            <a:ext cx="4839919" cy="4590288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77456" y="1353312"/>
            <a:ext cx="407182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77456" y="1847088"/>
            <a:ext cx="146304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0064" y="1755648"/>
            <a:ext cx="3779215" cy="214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Avaliação de conformidade de metas e resultados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77456" y="2180844"/>
            <a:ext cx="146304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4" y="2089404"/>
            <a:ext cx="3779215" cy="214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Critério uniforme entre diferentes equipes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77456" y="2514600"/>
            <a:ext cx="146304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70064" y="2423160"/>
            <a:ext cx="3779215" cy="214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Segunda geração da calculadora original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77456" y="4672584"/>
            <a:ext cx="4071823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077456" y="4855464"/>
            <a:ext cx="68580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54696" y="4855464"/>
            <a:ext cx="68580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Render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6144768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https://calculadora-aderencia-indicadores-2-0.onrender.com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1327" y="629107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Ferramentas Analíticas e de Produção     13/17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3EC26E"/>
                </a:solidFill>
                <a:latin typeface="Consolas"/>
              </a:rPr>
              <a:t>APLICAÇÃO 11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502920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8296"/>
                </a:solidFill>
                <a:latin typeface="Consolas"/>
              </a:rPr>
              <a:t>FERRAMENTAS ANALÍTICAS E DE PRODUÇÃO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44607" y="457200"/>
            <a:ext cx="950976" cy="237744"/>
          </a:xfrm>
          <a:prstGeom prst="roundRect">
            <a:avLst>
              <a:gd name="adj" fmla="val 15000"/>
            </a:avLst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>
                <a:solidFill>
                  <a:srgbClr val="2A1408"/>
                </a:solidFill>
                <a:latin typeface="Consolas"/>
              </a:rPr>
              <a:t>SUSPENSA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51560"/>
            <a:ext cx="5577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E8F1F6"/>
                </a:solidFill>
                <a:latin typeface="Segoe UI Semibold"/>
              </a:rPr>
              <a:t>AHP Tool Calculator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74519"/>
            <a:ext cx="5577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FB0C2"/>
                </a:solidFill>
                <a:latin typeface="Segoe UI"/>
              </a:rPr>
              <a:t>Análise hierárquica de processos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5577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E8F1F6"/>
                </a:solidFill>
                <a:latin typeface="Segoe UI"/>
              </a:rPr>
              <a:t>Ferramenta de análise hierárquica de processos (AHP) para ponderar critérios e priorizar alternativas. É o método que o SICARD incorpora na hierarquização da carteira.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892040"/>
            <a:ext cx="38100" cy="384048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93776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EC26E"/>
                </a:solidFill>
                <a:latin typeface="Segoe UI Semibold"/>
              </a:rPr>
              <a:t>O motor de priorização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93408" y="1051560"/>
            <a:ext cx="4839919" cy="4590288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77456" y="1353312"/>
            <a:ext cx="407182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77456" y="1847088"/>
            <a:ext cx="146304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0064" y="1755648"/>
            <a:ext cx="3779215" cy="214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Matriz de comparação par a par entre critérios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77456" y="2180844"/>
            <a:ext cx="146304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4" y="2089404"/>
            <a:ext cx="3779215" cy="214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Pesos e razão de consistência calculados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77456" y="2514600"/>
            <a:ext cx="146304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70064" y="2423160"/>
            <a:ext cx="3779215" cy="214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Mesmo método aplicado dentro do SICARD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77456" y="4672584"/>
            <a:ext cx="4071823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077456" y="4855464"/>
            <a:ext cx="68580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54696" y="4855464"/>
            <a:ext cx="68580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Render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6144768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https://vpc-geoser-ahp-tool-calculator.onrender.com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1327" y="629107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Ferramentas Analíticas e de Produção     14/17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3EC26E"/>
                </a:solidFill>
                <a:latin typeface="Consolas"/>
              </a:rPr>
              <a:t>APLICAÇÃO 12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61488" y="502920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8296"/>
                </a:solidFill>
                <a:latin typeface="Consolas"/>
              </a:rPr>
              <a:t>FERRAMENTAS ANALÍTICAS E DE PRODUÇÃO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344607" y="457200"/>
            <a:ext cx="950976" cy="237744"/>
          </a:xfrm>
          <a:prstGeom prst="roundRect">
            <a:avLst>
              <a:gd name="adj" fmla="val 15000"/>
            </a:avLst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>
                <a:solidFill>
                  <a:srgbClr val="2A1408"/>
                </a:solidFill>
                <a:latin typeface="Consolas"/>
              </a:rPr>
              <a:t>SUSPENSA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051560"/>
            <a:ext cx="5577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E8F1F6"/>
                </a:solidFill>
                <a:latin typeface="Segoe UI Semibold"/>
              </a:rPr>
              <a:t>Formulário Embarcadores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74519"/>
            <a:ext cx="5577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FB0C2"/>
                </a:solidFill>
                <a:latin typeface="Segoe UI"/>
              </a:rPr>
              <a:t>Entrevista com embarcadores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5577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E8F1F6"/>
                </a:solidFill>
                <a:latin typeface="Segoe UI"/>
              </a:rPr>
              <a:t>Formulário estruturado de entrevista com embarcadores para levantamento de dados logísticos e de transporte em campo.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892040"/>
            <a:ext cx="38100" cy="384048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93776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EC26E"/>
                </a:solidFill>
                <a:latin typeface="Segoe UI Semibold"/>
              </a:rPr>
              <a:t>Coleta primária de dado logístico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93408" y="1051560"/>
            <a:ext cx="4839919" cy="4590288"/>
          </a:xfrm>
          <a:prstGeom prst="rect">
            <a:avLst/>
          </a:prstGeom>
          <a:solidFill>
            <a:srgbClr val="0C2939"/>
          </a:solidFill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77456" y="1353312"/>
            <a:ext cx="407182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O QUE ELA ENTREGA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77456" y="1847088"/>
            <a:ext cx="146304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0064" y="1755648"/>
            <a:ext cx="3779215" cy="214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Roteiro de entrevista padronizado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77456" y="2180844"/>
            <a:ext cx="146304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4" y="2089404"/>
            <a:ext cx="3779215" cy="214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Levantamento de origem, destino e modal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77456" y="2514600"/>
            <a:ext cx="146304" cy="1524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70064" y="2423160"/>
            <a:ext cx="3779215" cy="2148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D3E3EC"/>
                </a:solidFill>
                <a:latin typeface="Segoe UI"/>
              </a:rPr>
              <a:t>Dado primário que alimenta os estudos logísticos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77456" y="4672584"/>
            <a:ext cx="4071823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077456" y="4855464"/>
            <a:ext cx="68580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Python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54696" y="4855464"/>
            <a:ext cx="685800" cy="256032"/>
          </a:xfrm>
          <a:prstGeom prst="rect">
            <a:avLst/>
          </a:prstGeom>
          <a:noFill/>
          <a:ln w="12700">
            <a:solidFill>
              <a:srgbClr val="1A46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50">
                <a:solidFill>
                  <a:srgbClr val="8FB0C2"/>
                </a:solidFill>
                <a:latin typeface="Consolas"/>
              </a:rPr>
              <a:t>Render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6144768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https://formulario-entrevista-embarcadores.onrender.com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1327" y="629107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Ferramentas Analíticas e de Produção     15/17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3EC26E"/>
                </a:solidFill>
                <a:latin typeface="Consolas"/>
              </a:rPr>
              <a:t>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686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8F1F6"/>
                </a:solidFill>
                <a:latin typeface="Segoe UI Semibold"/>
              </a:rPr>
              <a:t>Como as peças conversam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0876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8FB0C2"/>
                </a:solidFill>
                <a:latin typeface="Segoe UI"/>
              </a:rPr>
              <a:t>O portfólio não é um conjunto de sistemas isolados: quatro integrações já em produção ligam sensor, cadastro e decisão.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4884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SENSORES E COLETA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37744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A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377440"/>
            <a:ext cx="44450" cy="9144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56032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8F1F6"/>
                </a:solidFill>
                <a:latin typeface="Segoe UI Semibold"/>
              </a:rPr>
              <a:t>PLI-HazardTrack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88036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8FB0C2"/>
                </a:solidFill>
                <a:latin typeface="Segoe UI"/>
              </a:rPr>
              <a:t>chuva MERGE/INPE → risco por trecho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52044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A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520440"/>
            <a:ext cx="44450" cy="9144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370332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8F1F6"/>
                </a:solidFill>
                <a:latin typeface="Segoe UI Semibold"/>
              </a:rPr>
              <a:t>PLI Reporta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02336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8FB0C2"/>
                </a:solidFill>
                <a:latin typeface="Segoe UI"/>
              </a:rPr>
              <a:t>relato do cidadão → incidente verificado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14884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OPERAÇÃO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90288" y="292608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A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90288" y="2926080"/>
            <a:ext cx="44450" cy="9144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9744" y="310896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8F1F6"/>
                </a:solidFill>
                <a:latin typeface="Segoe UI Semibold"/>
              </a:rPr>
              <a:t>PLI Smart Router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9744" y="342900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8FB0C2"/>
                </a:solidFill>
                <a:latin typeface="Segoe UI"/>
              </a:rPr>
              <a:t>rota que desvia do risco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401568" y="2834640"/>
            <a:ext cx="1188720" cy="365760"/>
          </a:xfrm>
          <a:prstGeom prst="line">
            <a:avLst/>
          </a:prstGeom>
          <a:ln w="15875">
            <a:solidFill>
              <a:srgbClr val="5D82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429000" y="2706624"/>
            <a:ext cx="1133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CAMADAS DE RISCO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3401568" y="3611880"/>
            <a:ext cx="1188720" cy="365759"/>
          </a:xfrm>
          <a:prstGeom prst="line">
            <a:avLst/>
          </a:prstGeom>
          <a:ln w="15875">
            <a:solidFill>
              <a:srgbClr val="5D82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429000" y="3483863"/>
            <a:ext cx="1133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GEOJSON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22208" y="214884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LEITURA DO TERRITÓRIO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22208" y="237744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A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522208" y="2377440"/>
            <a:ext cx="44450" cy="9144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41664" y="256032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8F1F6"/>
                </a:solidFill>
                <a:latin typeface="Segoe UI Semibold"/>
              </a:rPr>
              <a:t>FAD-Stats 2.0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41664" y="288036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8FB0C2"/>
                </a:solidFill>
                <a:latin typeface="Segoe UI"/>
              </a:rPr>
              <a:t>IBGE · SECEX · MTE · ANTT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22208" y="352044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E0A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22208" y="3520440"/>
            <a:ext cx="44450" cy="914400"/>
          </a:xfrm>
          <a:prstGeom prst="rect">
            <a:avLst/>
          </a:prstGeom>
          <a:solidFill>
            <a:srgbClr val="E0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41664" y="370332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8F1F6"/>
                </a:solidFill>
                <a:latin typeface="Segoe UI Semibold"/>
              </a:rPr>
              <a:t>Análises Exploratórias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41664" y="402336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8FB0C2"/>
                </a:solidFill>
                <a:latin typeface="Segoe UI"/>
              </a:rPr>
              <a:t>sinistralidade e densidade da malha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49377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PLATAFORMA CENTRAL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516636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EC2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58368" y="5166360"/>
            <a:ext cx="44450" cy="9144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7824" y="534924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8F1F6"/>
                </a:solidFill>
                <a:latin typeface="Segoe UI Semibold"/>
              </a:rPr>
              <a:t>SIGMA-PLI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" y="566928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8FB0C2"/>
                </a:solidFill>
                <a:latin typeface="Segoe UI"/>
              </a:rPr>
              <a:t>metadados, identidade e grafo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90288" y="49377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DECISÃO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90288" y="516636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A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90288" y="5166360"/>
            <a:ext cx="44450" cy="9144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09744" y="534924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8F1F6"/>
                </a:solidFill>
                <a:latin typeface="Segoe UI Semibold"/>
              </a:rPr>
              <a:t>SICARD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09744" y="566928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8FB0C2"/>
                </a:solidFill>
                <a:latin typeface="Segoe UI"/>
              </a:rPr>
              <a:t>carteira hierarquizada por AHP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2208" y="4937760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D8296"/>
                </a:solidFill>
                <a:latin typeface="Consolas"/>
              </a:rPr>
              <a:t>MÉTODO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522208" y="5166360"/>
            <a:ext cx="2743200" cy="914400"/>
          </a:xfrm>
          <a:prstGeom prst="rect">
            <a:avLst/>
          </a:prstGeom>
          <a:solidFill>
            <a:srgbClr val="0C2939"/>
          </a:solidFill>
          <a:ln w="12700">
            <a:solidFill>
              <a:srgbClr val="3EC2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522208" y="5166360"/>
            <a:ext cx="44450" cy="914400"/>
          </a:xfrm>
          <a:prstGeom prst="rect">
            <a:avLst/>
          </a:prstGeom>
          <a:solidFill>
            <a:srgbClr val="3EC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741664" y="534924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8F1F6"/>
                </a:solidFill>
                <a:latin typeface="Segoe UI Semibold"/>
              </a:rPr>
              <a:t>AHP Tool Calculator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41664" y="5669280"/>
            <a:ext cx="2331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8FB0C2"/>
                </a:solidFill>
                <a:latin typeface="Segoe UI"/>
              </a:rPr>
              <a:t>pesos e consistência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401568" y="5623560"/>
            <a:ext cx="1188720" cy="0"/>
          </a:xfrm>
          <a:prstGeom prst="line">
            <a:avLst/>
          </a:prstGeom>
          <a:ln w="15875">
            <a:solidFill>
              <a:srgbClr val="5D82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429000" y="5312664"/>
            <a:ext cx="1133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LOGIN E CADASTROS</a:t>
            </a:r>
          </a:p>
        </p:txBody>
      </p:sp>
      <p:cxnSp>
        <p:nvCxnSpPr>
          <p:cNvPr id="50" name="Connector 49"/>
          <p:cNvCxnSpPr/>
          <p:nvPr/>
        </p:nvCxnSpPr>
        <p:spPr>
          <a:xfrm flipH="1">
            <a:off x="7333488" y="5623560"/>
            <a:ext cx="1188720" cy="0"/>
          </a:xfrm>
          <a:prstGeom prst="line">
            <a:avLst/>
          </a:prstGeom>
          <a:ln w="15875">
            <a:solidFill>
              <a:srgbClr val="5D82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360920" y="5312664"/>
            <a:ext cx="1133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D8296"/>
                </a:solidFill>
                <a:latin typeface="Consolas"/>
              </a:rPr>
              <a:t>MÉTODO AHP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144768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4 integrações em produção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61327" y="629107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Arquitetura     16/17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A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3AA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5486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3AA6D9"/>
                </a:solidFill>
                <a:latin typeface="Consolas"/>
              </a:rPr>
              <a:t>SITUAÇÃO E 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686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E8F1F6"/>
                </a:solidFill>
                <a:latin typeface="Segoe UI Semibold"/>
              </a:rPr>
              <a:t>Onde o portfólio está hoje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3736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3EC26E"/>
                </a:solidFill>
                <a:latin typeface="Segoe UI Semibold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NO SERVIDOR PRÓPRIO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67328" y="173736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E0A33A"/>
                </a:solidFill>
                <a:latin typeface="Segoe UI Semibol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67328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SUSPENSAS NO RENDER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76288" y="173736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E8F1F6"/>
                </a:solidFill>
                <a:latin typeface="Segoe UI Semibold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76288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INTEGRAÇÕES ATIVAS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743200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154680"/>
            <a:ext cx="341162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E8F1F6"/>
                </a:solidFill>
                <a:latin typeface="Segoe UI Semibold"/>
              </a:rPr>
              <a:t>Infraestrutura própria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657600"/>
            <a:ext cx="341162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FB0C2"/>
                </a:solidFill>
                <a:latin typeface="Segoe UI"/>
              </a:rPr>
              <a:t>As 6 aplicações dos Sistemas Maiores rodam em containers Docker atrás de um Nginx na instância EC2 do PLI, cada uma com seu banco PostgreSQL/PostGIS.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8FB0C2"/>
                </a:solidFill>
                <a:latin typeface="Segoe UI"/>
              </a:rPr>
              <a:t>É a base madura do portfólio: disponível, versionada e integrada.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0034" y="3154680"/>
            <a:ext cx="341162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E8F1F6"/>
                </a:solidFill>
                <a:latin typeface="Segoe UI Semibold"/>
              </a:rPr>
              <a:t>Hospedagem externa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90034" y="3657600"/>
            <a:ext cx="341162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FB0C2"/>
                </a:solidFill>
                <a:latin typeface="Segoe UI"/>
              </a:rPr>
              <a:t>As 6 aplicações de Análises Exploratórias e Ferramentas estão no Render e hoje respondem Service Suspended.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8FB0C2"/>
                </a:solidFill>
                <a:latin typeface="Segoe UI"/>
              </a:rPr>
              <a:t>Retomá-las exige decidir entre reativar o plano ou migrá-las para a mesma infraestrutura dos sistemas maiores.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1700" y="3154680"/>
            <a:ext cx="341162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E8F1F6"/>
                </a:solidFill>
                <a:latin typeface="Segoe UI Semibold"/>
              </a:rPr>
              <a:t>Próximo passo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1700" y="3657600"/>
            <a:ext cx="341162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FB0C2"/>
                </a:solidFill>
                <a:latin typeface="Segoe UI"/>
              </a:rPr>
              <a:t>Concluir a análise aplicação por aplicação e classificar cada uma como produto, módulo, serviço compartilhado, biblioteca, ferramenta interna ou protótipo.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0">
                <a:solidFill>
                  <a:srgbClr val="8FB0C2"/>
                </a:solidFill>
                <a:latin typeface="Segoe UI"/>
              </a:rPr>
              <a:t>Só então definir a arquitetura da empresa e a estratégia comercial.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6144768"/>
            <a:ext cx="10874959" cy="9525"/>
          </a:xfrm>
          <a:prstGeom prst="rect">
            <a:avLst/>
          </a:prstGeom>
          <a:solidFill>
            <a:srgbClr val="1A46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29107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https://56.125.163.194/pli-hub/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61327" y="629107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D8296"/>
                </a:solidFill>
                <a:latin typeface="Consolas"/>
              </a:rPr>
              <a:t>VPC-GEOSER · 31 de agosto de 2026     17/17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