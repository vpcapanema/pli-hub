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53935" y="0"/>
            <a:ext cx="4937760" cy="6858000"/>
          </a:xfrm>
          <a:prstGeom prst="rect">
            <a:avLst/>
          </a:prstGeom>
          <a:solidFill>
            <a:srgbClr val="08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53935" y="0"/>
            <a:ext cx="12700" cy="6858000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VPC-GEOSER · 31 DE AGOSTO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6766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8800" b="1">
                <a:solidFill>
                  <a:srgbClr val="E8F1F6"/>
                </a:solidFill>
                <a:latin typeface="Segoe UI Semibold"/>
              </a:rPr>
              <a:t>PLI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42900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8FB0C2"/>
                </a:solidFill>
                <a:latin typeface="Segoe UI"/>
              </a:rPr>
              <a:t>Central das aplicações de apoio ao PLI-SP 2050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APLICAÇÕES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2803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F1F6"/>
                </a:solidFill>
                <a:latin typeface="Segoe UI"/>
              </a:rPr>
              <a:t>12 sistemas em 3 categorias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18464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CENTRAL DE ACESSO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39496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F1F6"/>
                </a:solidFill>
                <a:latin typeface="Segoe UI"/>
              </a:rPr>
              <a:t>https://56.125.163.194/pli-hub/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751576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RESPONSÁVEL TÉCNICO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6188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F1F6"/>
                </a:solidFill>
                <a:latin typeface="Segoe UI"/>
              </a:rPr>
              <a:t>Vinicius do Prado Capanema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4015" y="123444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NESTE DOCUMENTO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4015" y="1645920"/>
            <a:ext cx="3657600" cy="3175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4015" y="17556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Sistemas Maiores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4015" y="20299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SIGMA-PLI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4015" y="226771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SICARD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015" y="2505456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 Smart Router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4015" y="274320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 Reporta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4015" y="298094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PLI-HazardTrack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015" y="321868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FAD-Stats 2.0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94015" y="3639312"/>
            <a:ext cx="3657600" cy="3175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4015" y="374904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0A33A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4015" y="402336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Acidentes Infosiga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94015" y="426110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Acidentes 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94015" y="44988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Densidade Malha SP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94015" y="4919472"/>
            <a:ext cx="3657600" cy="3175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94015" y="502920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EC26E"/>
                </a:solidFill>
                <a:latin typeface="Segoe UI Semibold"/>
              </a:rPr>
              <a:t>Ferramentas Analíticas e de Produção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4015" y="530352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Calculadora Aderência 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4015" y="554126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AHP Tool Calculator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4015" y="577900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Formulário Embarcadores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8F1F6"/>
                </a:solidFill>
                <a:latin typeface="Segoe UI Semibold"/>
              </a:rPr>
              <a:t>O plano que estas aplicações servem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3AA6D9"/>
                </a:solidFill>
                <a:latin typeface="Consolas"/>
              </a:rPr>
              <a:t>Plano de Logística e Investimentos do Estado de São Paulo — PLI-SP 2050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O PLI-SP 2050 é o instrumento de planejamento de longo prazo da infraestrutura logística e dos sistemas de transporte do Estado de São Paulo, com horizonte em 2050. Ele examina a mobilidade de pessoas e mercadorias integrando diagnóstico territorial, projeção de demanda e avaliação de cenários, para fundamentar decisões de investimento público e privado.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520440"/>
            <a:ext cx="603504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70332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COORDENAÇÃO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904488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1F6"/>
                </a:solidFill>
                <a:latin typeface="Segoe UI"/>
              </a:rPr>
              <a:t>SEMIL — Secretaria de Meio Ambiente, Infraestrutura e Logística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5888" y="370332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EXECUÇÃO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3904488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1F6"/>
                </a:solidFill>
                <a:latin typeface="Segoe UI"/>
              </a:rPr>
              <a:t>Consórcio Concremat–Transplan, contrato nº 22.607-5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36168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APOIO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562856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1F6"/>
                </a:solidFill>
                <a:latin typeface="Segoe UI"/>
              </a:rPr>
              <a:t>BID — Banco Interamericano de Desenvolvimento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8" y="436168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HORIZONTE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4562856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1F6"/>
                </a:solidFill>
                <a:latin typeface="Segoe UI"/>
              </a:rPr>
              <a:t>2050, com trabalhos iniciados em 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02005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ABRANGÊNCIA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22122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1F6"/>
                </a:solidFill>
                <a:latin typeface="Segoe UI"/>
              </a:rPr>
              <a:t>Estado de São Paulo, 645 municípios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8" y="502005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PORTAL OFICIAL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8" y="522122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1F6"/>
                </a:solidFill>
                <a:latin typeface="Segoe UI"/>
              </a:rPr>
              <a:t>pli.semil.sp.gov.br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1874519"/>
            <a:ext cx="42912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AS QUATRO ETAPAS DO PLANO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2103120"/>
            <a:ext cx="429127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42048" y="22860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3AA6D9"/>
                </a:solidFill>
                <a:latin typeface="Consola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7808" y="2286000"/>
            <a:ext cx="2828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E8F1F6"/>
                </a:solidFill>
                <a:latin typeface="Segoe UI"/>
              </a:rPr>
              <a:t>Plano de Trabalho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36047" y="228600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até mar/2025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42048" y="2670048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3AA6D9"/>
                </a:solidFill>
                <a:latin typeface="Consola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07808" y="2670048"/>
            <a:ext cx="2828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E8F1F6"/>
                </a:solidFill>
                <a:latin typeface="Segoe UI"/>
              </a:rPr>
              <a:t>Diagnóstico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36047" y="267004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até out/2025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305409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3AA6D9"/>
                </a:solidFill>
                <a:latin typeface="Consola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3054096"/>
            <a:ext cx="2828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E8F1F6"/>
                </a:solidFill>
                <a:latin typeface="Segoe UI"/>
              </a:rPr>
              <a:t>Simulação e análise de alternativas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36047" y="305409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até mar/2026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42048" y="3438144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3AA6D9"/>
                </a:solidFill>
                <a:latin typeface="Consolas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7808" y="3438144"/>
            <a:ext cx="2828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E8F1F6"/>
                </a:solidFill>
                <a:latin typeface="Segoe UI"/>
              </a:rPr>
              <a:t>Plano de ação com intervenções prioritárias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36047" y="3438144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até ago/2026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42048" y="4096512"/>
            <a:ext cx="42912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O QUE O PLANO PERSEGUE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42048" y="4325112"/>
            <a:ext cx="429127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42048" y="459943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0" y="4507992"/>
            <a:ext cx="4016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Diversificar a matriz de transporte do Estado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2048" y="492861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0" y="4837176"/>
            <a:ext cx="4016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Reduzir desigualdades regionais de acesso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42048" y="525780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80" y="5166360"/>
            <a:ext cx="4016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Elevar a eficiência logística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42048" y="558698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0" y="5495544"/>
            <a:ext cx="4016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Sustentar decisões de investimento com evidência técnica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pli.semil.sp.gov.br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Contexto     02/20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046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F1F6"/>
                </a:solidFill>
                <a:latin typeface="Segoe UI Semibold"/>
              </a:rPr>
              <a:t>O portfólio em um relance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8F1F6"/>
                </a:solidFill>
                <a:latin typeface="Segoe UI Semibold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488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APLICAÇÕES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1216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8F1F6"/>
                </a:solidFill>
                <a:latin typeface="Segoe UI Semibol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71216" y="21488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CATEGORIAS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4064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3EC26E"/>
                </a:solidFill>
                <a:latin typeface="Segoe UI Semibol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1488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NO AR HOJE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0A33A"/>
                </a:solidFill>
                <a:latin typeface="Segoe UI Semibol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21488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SUSPENSAS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8F1F6"/>
                </a:solidFill>
                <a:latin typeface="Segoe UI Semibol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1488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COM TELA REGISTRADA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603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2880360"/>
            <a:ext cx="3411626" cy="381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63240"/>
            <a:ext cx="341162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3AA6D9"/>
                </a:solidFill>
                <a:latin typeface="Segoe UI Semibold"/>
              </a:rPr>
              <a:t>Sistemas Maiores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611880"/>
            <a:ext cx="341162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6 aplicações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977639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3959351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SIGMA-PLI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68826" y="4023359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4251959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379975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" y="4361687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SICARD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68826" y="4425695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4654295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782311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" y="4764023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PLI Smart Router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68826" y="4828031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056631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184647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" y="5166359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PLI Reporta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68826" y="5230367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458967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586983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" y="5568695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PLI-HazardTrack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68826" y="5632703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861303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5989319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" y="5971031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FAD-Stats 2.0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68826" y="6035039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6263639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90034" y="2880360"/>
            <a:ext cx="3411626" cy="381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90034" y="3063240"/>
            <a:ext cx="341162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E0A33A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90034" y="3611880"/>
            <a:ext cx="341162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3 aplicações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90034" y="3977639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74082" y="3959351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Acidentes Infosiga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00492" y="4023359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0034" y="4251959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90034" y="4379975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74082" y="4361687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Acidentes DER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600492" y="4425695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90034" y="4654295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0034" y="4782311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74082" y="4764023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Densidade Malha SP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00492" y="4828031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90034" y="5056631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121700" y="2880360"/>
            <a:ext cx="3411626" cy="381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21700" y="3063240"/>
            <a:ext cx="341162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3EC26E"/>
                </a:solidFill>
                <a:latin typeface="Segoe UI Semibold"/>
              </a:rPr>
              <a:t>Ferramentas Analíticas e de Produção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21700" y="3611880"/>
            <a:ext cx="341162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3 aplicações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21700" y="3977639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05748" y="3959351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Calculadora Aderência 2.0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332159" y="4023359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121700" y="4251959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21700" y="4379975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5748" y="4361687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AHP Tool Calculator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332159" y="4425695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121700" y="4654295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21700" y="4782311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5748" y="4764023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Formulário Embarcadores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1332159" y="4828031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121700" y="5056631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https://56.125.163.194/pli-hub/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Panorama     03/20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LEGADO DE DADOS DO PLANO · D-17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SIGMA-PLI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Sistema Integrado de Gestão, Monitoramento e Apoio Técnico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Cataloga, organiza e disponibiliza os dados técnicos produzidos ao longo do PLI-SP 2050. É a plataforma central: além do catálogo próprio, fornece autenticação e cadastro de pessoas e instituições para as demais aplicações do consórcio.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Plataforma central do ecossistema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142827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FastAPI · Python 3.12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68940" y="5029200"/>
            <a:ext cx="154166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PostgreSQL 17 + PostGIS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92896" y="5029200"/>
            <a:ext cx="69128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Memgraph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340096"/>
            <a:ext cx="74797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GeoServer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8636" y="5340096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 Shiny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05520" y="5340096"/>
            <a:ext cx="97474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Cloudflare R2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62556" y="5340096"/>
            <a:ext cx="103143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Docker + Nginx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igm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Painel do SIGMA-PLI · relatório de atividades, jun/2026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Catálogo de metadados com upload, indexação e busca avançada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Autenticação JWT e cadastro PF/PJ com verificação de e-mail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Grafo de conhecimento em Memgraph para relacionar dados e fontes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WebGIS próprio: camadas OGC (WMS/WFS) publicadas via GeoServer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40680" y="594360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96712" y="5861304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Dashboards em R Shiny e painel administrativo completo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SIGMA-PLI ·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04672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8F1F6"/>
                </a:solidFill>
                <a:latin typeface="Segoe UI Semibold"/>
              </a:rPr>
              <a:t>A plataforma central, módulo a módulo</a:t>
            </a:r>
          </a:p>
        </p:txBody>
      </p:sp>
      <p:pic>
        <p:nvPicPr>
          <p:cNvPr id="5" name="Picture 4" descr="sigma_graf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3657600" cy="228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1600200"/>
            <a:ext cx="3657600" cy="228600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95020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Explorador de grafo do módulo M09 · relatório de atividades, jun/2026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15968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Cada módulo é uma área funcional própria. Juntos, formam a base sobre a qual as outras aplicações do PLI se apoiam.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73168" y="1600200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73168" y="1600200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6048" y="1700784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1892808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Home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130552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Página pública, status do sistema e health checks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93610" y="1600200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93610" y="1600200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76490" y="1700784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6490" y="1892808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Auth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6490" y="2130552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Login, cadastro PF/PJ e verificação de e-mail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4052" y="1600200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14052" y="1600200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6932" y="1700784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6932" y="1892808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932" y="2130552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Painel pós-login, KPIs e navegação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73168" y="2706624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73168" y="2706624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807208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2999232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Dicionário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3236976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Catálogo de metadados, upload S3 e WebGIS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93610" y="2706624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93610" y="2706624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6490" y="2807208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6490" y="2999232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Minha Área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76490" y="3236976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Perfil, calendário, tarefas e uploads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4052" y="2706624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4052" y="2706624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96932" y="2807208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96932" y="2999232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Calendário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6932" y="3236976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Calendário de atividades e eventos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73168" y="3813048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73168" y="3813048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56048" y="3913632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6048" y="4105656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Relatórios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56048" y="4343400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Relatórios de cadastros e usuários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93610" y="3813048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093610" y="3813048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76490" y="3913632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76490" y="4105656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Ferramentas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76490" y="4343400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Hub de ferramentas, GeoServer ETL e Shiny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414052" y="3813048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414052" y="3813048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96932" y="3913632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96932" y="4105656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Management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96932" y="4343400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Painel admin, cadastros, sessões e solicitações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73168" y="4919472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73168" y="4919472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56048" y="5020056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56048" y="5212080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Memgraph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56048" y="5449824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Explorador de grafo, busca e governança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93610" y="4919472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93610" y="4919472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76490" y="5020056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76490" y="5212080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SIGMA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76490" y="5449824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Monitoramento de infraestrutura e da VM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METAS 4.1 A 4.4 DO TDR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SICARD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Sistema Inteligente de Cadastro e Ranking de Demandas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Cadastra, analisa, hierarquiza e acompanha planos, programas e projetos. É o instrumento operacional das Metas 4.1 a 4.4 do TDR: reúne o universo comparável de intervenções e produz o ranking por análise multicritério AHP, com trilha de auditoria.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Onde as intervenções viram carteira priorizada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148496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FastAPI · Python 3.11+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5632" y="5029200"/>
            <a:ext cx="176842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PostgreSQL 17 + PostGIS 3.5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76356" y="5029200"/>
            <a:ext cx="86135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HTML/CSS/JS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340096"/>
            <a:ext cx="114481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API do SIGMA-PLI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https://56.125.163.194/sicard/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i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Portal público do SICARD · captura ao vivo, 31/ago/2026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Hierarquização multicritério por AHP, com pesos e consistência auditáveis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96712" y="5010912"/>
            <a:ext cx="5836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Triagem socioambiental e favorabilidade territorial por interseção espacial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555955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96712" y="547725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Ciclo de vida da demanda em três fases, de cadastro a execução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584301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76072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Login e cadastros consumidos do SIGMA-PLI, sem duplicar base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40680" y="612648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96712" y="6044184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Trilha de auditoria de ponta a ponta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https://56.125.163.194/sicard/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EIXO E2 DO D-11 · ACESSIBILIDADE E INTERMODALIDADE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PLI Smart 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Roteirizador multimodal com resiliência climática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Calcula rotas reais sobre a malha paulista, sobrepõe os alertas do HazardTrack e do PLI Reporta e recalcula o trajeto desviando das áreas afetadas. Materializa, em ferramenta, a pergunta do eixo de acessibilidade: como o risco altera o custo real de deslocamento.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Onde o alerta vira decisão operacional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52120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Flask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61868" y="5029200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Leaflet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78752" y="5029200"/>
            <a:ext cx="137158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OSRM · OpenStreetMap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32632" y="5029200"/>
            <a:ext cx="125820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Nominatim · ViaCEP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https://56.125.163.194/smart-router/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martrou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Malha e camadas de risco · captura ao vivo, 31/ago/2026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Origem e destino por coordenada, busca textual ou clique no mapa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Geocodificação automática: CEP via ViaCEP, endereço via Nominatim/OSM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Roteamento OSRM sobre OpenStreetMap, com waypoints intermediários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Camadas ao vivo de risco climático e de incidentes verificados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40680" y="594360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96712" y="5861304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Rota alternativa automática com buffer de segurança de 500 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https://56.125.163.194/smart-router/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DADO PRIMÁRIO DE CAMPO · APOIO AO D-3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PLI Reporta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Reporte cidadão de ocorrências viárias georreferenciadas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Aplicativo mobile-first em que o cidadão reporta ocorrências na via. Os relatos passam por um pipeline de veracidade e relevância e só então alimentam os serviços de roteamento e alerta, como camada operacional de incidentes verificados.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A camada de incidentes verificados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120150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FastAPI · Uvicorn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42172" y="5029200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9056" y="5029200"/>
            <a:ext cx="114481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PWA mobile-first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168" y="5029200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GeoJSON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https://56.125.163.194/pli-reporta/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repor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Tela de reporte do cidadão · captura ao vivo, 31/ago/2026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Reportes de buraco, alagamento, sinistro, bloqueio, obra e sinalização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Pipeline de veracidade e relevância antes da publicação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Mapa público e fluxo de moderação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Endpoint GeoJSON estável para consumo pelo roteador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40680" y="594360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96712" y="5861304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Instalável como PWA, pensado para uso em campo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https://56.125.163.194/pli-reporta/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TEMA D11C_18 · RESILIÊNCIA A EVENTOS EXTREMOS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PLI-HazardTrack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SAMAEG-PLI · Monitoramento, Análise e Alerta Geodinâmico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Monitora chuva em streaming e traduz o dado bruto em risco por trecho rodoviário do DER-SP. É a resposta operacional ao tema D11c_18: a recomendação foi converter “mudanças climáticas” em resiliência da infraestrutura e eventos extremos — e é exatamente isso que a ferramenta calcula.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O tema climático do D-11 virado ferramenta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8560" y="5029200"/>
            <a:ext cx="114481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MERGE/CPTEC/INPE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45672" y="5029200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2556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Docker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https://56.125.163.194/pli-hazardtrack/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hazardtra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Mapa integrado de riscos climáticos · captura ao vivo, 31/ago/2026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Chuva MERGE/CPTEC/INPE consumida em streaming, sem cache em disco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Modelo oficial de Risco Dinâmico RD = RA × ICC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Quatro regiões climático-geológico-geomorfológicas do litoral paulista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Camadas de movimento de massa, inundação e risco de fogo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40680" y="594360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96712" y="5861304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Níveis operacionais compatíveis com o PPDC da Defesa Civil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https://56.125.163.194/pli-hazardtrack/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AA6D9"/>
                </a:solidFill>
                <a:latin typeface="Consolas"/>
              </a:rPr>
              <a:t>PRODUTO D-2 · CARACTERIZAÇÃO SOCIOECONÔMICA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FAD-Stats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Ferramenta de Análise Dinamizada de Dados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Plataforma de análise estatística e espacial de dados oficiais. Reúne produção agropecuária, comércio exterior, mercado de trabalho e logística em uma única bancada — o insumo da caracterização socioeconômica que abre o diagnóstico do plano.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A leitura socioeconômica do território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FastAPI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5252" y="5029200"/>
            <a:ext cx="97474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PostgreSQL 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32288" y="5029200"/>
            <a:ext cx="120150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HTML/JS sem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16092" y="5029200"/>
            <a:ext cx="103143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Docker + Nginx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https://56.125.163.194/fad-stats/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adst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Hub de dashboards da FAD-Stats · relatório de atividades, jun/2026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Fontes oficiais: IBGE, SECEX, MTE/RAIS e ANTT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21 tipos de gráfico e 6 tipos de mapa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Recortes municipais e regionais sobre os 645 municípios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Interface pública com a barra padrão do Governo de São Paulo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https://56.125.163.194/fad-stats/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E0A33A"/>
                </a:solidFill>
                <a:latin typeface="Consolas"/>
              </a:rPr>
              <a:t>EIXO E3 DO D-11 · SEGURANÇA VIÁRIA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Acidentes Infosiga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Análise exploratória dos sinistros de trânsito do Estado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Análise exploratória sobre o Infosiga-SP, o Sistema de Informações Gerenciais de Sinistros de Trânsito mantido pelo Detran-SP. Cobre os 645 municípios e cruza os sinistros com a malha rodoviária, com filtros por período, tipo e localização.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0A33A"/>
                </a:solidFill>
                <a:latin typeface="Segoe UI Semibold"/>
              </a:rPr>
              <a:t>O retrato estadual da sinistralidade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8560" y="5029200"/>
            <a:ext cx="74797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GeoPandas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28" y="5029200"/>
            <a:ext cx="108812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Dashboards 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924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https://acidentes-infosiga.onrender.com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nfosi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Portal de sinistros rodoviários · relatório de atividades, jun/2026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Base oficial do Detran-SP, atualizada mensalmente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Óbitos contados até 30 dias após o sinistro, como manda o Infosiga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Registros consolidados de Polícia Militar, PMR e PRF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Cruzamento espacial com a malha rodoviária estadual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https://acidentes-infosiga.onrender.com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Análises Exploratórias    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E0A33A"/>
                </a:solidFill>
                <a:latin typeface="Consolas"/>
              </a:rPr>
              <a:t>EIXO E3 DO D-11 · SEGURANÇA VIÁRIA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Acidentes 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Análise exploratória dos sinistros na malha do DER-SP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Recorta a sinistralidade para as rodovias sob gestão do DER-SP — a autarquia que administra mais de 12 mil km de malha estadual — e organiza a leitura por rodovia e por ano, com a série consolidada de 2023 a 2025.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0A33A"/>
                </a:solidFill>
                <a:latin typeface="Segoe UI Semibold"/>
              </a:rPr>
              <a:t>O recorte da malha estadual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Plotly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78752" y="5029200"/>
            <a:ext cx="108812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Dashboards 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49172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https://acidentes-der-analise-exploratoria.onrender.com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cidentes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Análise consolidada 2023-2025 · relatório de atividades, jun/2026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Recorte exclusivo da malha sob gestão do DER-SP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Série consolidada de 2023, 2024 e 2025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Séries temporais e comparação entre trechos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Insumo direto para priorização de intervenções de segurança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https://acidentes-der-analise-exploratoria.onrender.com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Análises Exploratórias    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E0A33A"/>
                </a:solidFill>
                <a:latin typeface="Consolas"/>
              </a:rPr>
              <a:t>PRODUTO D-3 TOMO 1 · RODOVIAS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Densidade Malha 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Densidade da malha rodoviária estadual paulista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Mede a densidade da malha rodoviária estadual por área e por população e classifica os trechos por tipo de administração, categoria e localização urbana ou rural. É a leitura de cobertura que sustenta o diagnóstico rodoviário do plano.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0A33A"/>
                </a:solidFill>
                <a:latin typeface="Segoe UI Semibold"/>
              </a:rPr>
              <a:t>Onde a rede é densa e onde falta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8560" y="5029200"/>
            <a:ext cx="74797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GeoPandas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2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Folium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902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https://densidade-de-malha-estadual-sp.onrender.com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ensida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Análise geoespacial da malha · relatório de atividades, jun/2026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Densidade por área e por população, calculada trecho a trecho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Classificação por administração, categoria e recorte urbano-rural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Leitura territorial dos vazios de cobertura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Base para os estudos de expansão da malha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https://densidade-de-malha-estadual-sp.onrender.com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Análises Exploratórias    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APLICAÇÃO 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FERRAMENTAS ANALÍTICAS E DE PRODUÇÃO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EC26E"/>
                </a:solidFill>
                <a:latin typeface="Consolas"/>
              </a:rPr>
              <a:t>APOIO ÀS METAS 4.2 E 4.3 DO TDR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Calculadora Aderência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Aderência de indicadores a metas e resultados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Calcula a aderência de indicadores para avaliar a conformidade de metas e resultados, padronizando o julgamento entre equipes na etapa de avaliação das intervenções.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EC26E"/>
                </a:solidFill>
                <a:latin typeface="Segoe UI Semibold"/>
              </a:rPr>
              <a:t>Conformidade de indicadores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0680" y="1170432"/>
            <a:ext cx="6092647" cy="1051560"/>
          </a:xfrm>
          <a:prstGeom prst="rect">
            <a:avLst/>
          </a:prstGeom>
          <a:noFill/>
          <a:ln w="12700">
            <a:solidFill>
              <a:srgbClr val="1A46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1371600"/>
            <a:ext cx="554400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A33A"/>
                </a:solidFill>
                <a:latin typeface="Segoe UI Semibold"/>
              </a:rPr>
              <a:t>Sem captura disponível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1673352"/>
            <a:ext cx="55440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D8296"/>
                </a:solidFill>
                <a:latin typeface="Segoe UI"/>
              </a:rPr>
              <a:t>A aplicação está suspensa no Render e não aparece nas capturas do relatório de atividades. A tela entra assim que o serviço for reativado.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63347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3026664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96712" y="294436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Avaliação de conformidade de metas e resultados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40680" y="3310128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96712" y="322783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Critério uniforme entre diferentes equipes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40680" y="3593592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96712" y="351129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Segunda geração da calculadora original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https://calculadora-aderencia-indicadores-2-0.onrender.com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Ferramentas Analíticas e de Produção    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APLICAÇÃO 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FERRAMENTAS ANALÍTICAS E DE PRODUÇÃO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EC26E"/>
                </a:solidFill>
                <a:latin typeface="Consolas"/>
              </a:rPr>
              <a:t>META 4.4 DO TDR · HIERARQUIZAÇÃO AHP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AHP Tool Calculator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Análise hierárquica de processos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Ferramenta de análise hierárquica de processos para ponderar critérios e priorizar alternativas. É o método que a Meta 4.4 do TDR exige e que o SICARD incorpora na hierarquização da carteira.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EC26E"/>
                </a:solidFill>
                <a:latin typeface="Segoe UI Semibold"/>
              </a:rPr>
              <a:t>O método por trás da priorização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0680" y="1170432"/>
            <a:ext cx="6092647" cy="1051560"/>
          </a:xfrm>
          <a:prstGeom prst="rect">
            <a:avLst/>
          </a:prstGeom>
          <a:noFill/>
          <a:ln w="12700">
            <a:solidFill>
              <a:srgbClr val="1A46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1371600"/>
            <a:ext cx="554400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A33A"/>
                </a:solidFill>
                <a:latin typeface="Segoe UI Semibold"/>
              </a:rPr>
              <a:t>Sem captura disponível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1673352"/>
            <a:ext cx="55440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D8296"/>
                </a:solidFill>
                <a:latin typeface="Segoe UI"/>
              </a:rPr>
              <a:t>A aplicação está suspensa no Render e não aparece nas capturas do relatório de atividades. A tela entra assim que o serviço for reativado.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63347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3026664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96712" y="294436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Matriz de comparação par a par entre critérios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40680" y="3310128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96712" y="322783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Pesos e razão de consistência calculados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40680" y="3593592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96712" y="351129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Mesmo método aplicado dentro do SICARD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https://vpc-geoser-ahp-tool-calculator.onrender.com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Ferramentas Analíticas e de Produção    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APLICAÇÃO 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FERRAMENTAS ANALÍTICAS E DE PRODUÇÃO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46927" y="45720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3EC26E"/>
                </a:solidFill>
                <a:latin typeface="Consolas"/>
              </a:rPr>
              <a:t>PRODUTO D-4 · MATRIZES MULTIMODAIS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Formulário Embarcadores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Entrevista estruturada com embarcadores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Roteiro estruturado de entrevista com embarcadores para levantar origem, destino, modal e volume das cargas — o dado primário que alimenta a consolidação das matrizes multimodais do ano-base.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EC26E"/>
                </a:solidFill>
                <a:latin typeface="Segoe UI Semibold"/>
              </a:rPr>
              <a:t>Coleta primária de dado logístico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0680" y="1170432"/>
            <a:ext cx="6092647" cy="1051560"/>
          </a:xfrm>
          <a:prstGeom prst="rect">
            <a:avLst/>
          </a:prstGeom>
          <a:noFill/>
          <a:ln w="12700">
            <a:solidFill>
              <a:srgbClr val="1A46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1371600"/>
            <a:ext cx="554400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A33A"/>
                </a:solidFill>
                <a:latin typeface="Segoe UI Semibold"/>
              </a:rPr>
              <a:t>Sem captura disponível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1673352"/>
            <a:ext cx="55440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D8296"/>
                </a:solidFill>
                <a:latin typeface="Segoe UI"/>
              </a:rPr>
              <a:t>A aplicação está suspensa no Render e não aparece nas capturas do relatório de atividades. A tela entra assim que o serviço for reativado.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63347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3026664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96712" y="294436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Roteiro de entrevista padronizado para uso em campo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40680" y="3310128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96712" y="322783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Levantamento de origem, destino, modal e volume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40680" y="3593592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96712" y="351129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Insumo direto da matriz origem-destino de cargas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https://formulario-entrevista-embarcadores.onrender.com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Ferramentas Analíticas e de Produção    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CADEIA DE PRODUTOS DO TDR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F1F6"/>
                </a:solidFill>
                <a:latin typeface="Segoe UI Semibold"/>
              </a:rPr>
              <a:t>Onde cada aplicação entra na cadeia de produtos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0C2"/>
                </a:solidFill>
                <a:latin typeface="Segoe UI"/>
              </a:rPr>
              <a:t>O Termo de Referência do PLI-SP organiza o trabalho em produtos encadeados. As aplicações do hub não são ferramentas soltas: cada uma instrumenta uma etapa dessa cadeia, da coleta do dado primário à hierarquização das intervenções.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377440"/>
            <a:ext cx="2028687" cy="34747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377440"/>
            <a:ext cx="2028687" cy="381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16995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D-2 / D-3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6995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Caracterização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37560"/>
            <a:ext cx="16995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Socioeconomia do Estado e caracterização do sistema de transporte em sete tomos — rodovias, ferrovias, portos, hidrovias, aerovias, dutovias e terminais intermodais.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54880"/>
            <a:ext cx="169950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919472"/>
            <a:ext cx="97474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FAD-Stats 2.0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230368"/>
            <a:ext cx="125820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Densidade Malha SP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541264"/>
            <a:ext cx="125820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Acidentes Infosiga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52160"/>
            <a:ext cx="97474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Acidentes 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69935" y="2377440"/>
            <a:ext cx="2028687" cy="34747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69935" y="2377440"/>
            <a:ext cx="2028687" cy="381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34527" y="2560320"/>
            <a:ext cx="16995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D-4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34527" y="2788920"/>
            <a:ext cx="16995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Matrizes multimodais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34527" y="3337560"/>
            <a:ext cx="16995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Levantamento de dados secundários, coleta em rodovias e consolidação das matrizes multimodais do ano-base.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34527" y="4754880"/>
            <a:ext cx="169950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34527" y="4919472"/>
            <a:ext cx="154166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Formulário Embarcadores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1503" y="2377440"/>
            <a:ext cx="2028687" cy="34747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81503" y="2377440"/>
            <a:ext cx="2028687" cy="381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46095" y="2560320"/>
            <a:ext cx="16995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D-11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6095" y="2788920"/>
            <a:ext cx="16995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Triagem de temas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46095" y="3337560"/>
            <a:ext cx="16995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Meta 3.3 do TDR: analisar criticamente os pontos vindos dos contatos setoriais e identificar quais viram hipóteses simuláveis. Foram 31 temas em 5 eixos funcionais.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46095" y="4754880"/>
            <a:ext cx="169950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46095" y="4919472"/>
            <a:ext cx="108812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Relatórios D-11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46095" y="5230368"/>
            <a:ext cx="108812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PLI-HazardTrack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93071" y="2377440"/>
            <a:ext cx="2028687" cy="34747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3071" y="2377440"/>
            <a:ext cx="2028687" cy="381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57663" y="2560320"/>
            <a:ext cx="16995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D-12 a D-14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7663" y="2788920"/>
            <a:ext cx="16995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Cenários e hierarquização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7663" y="3337560"/>
            <a:ext cx="16995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Metas 4.1 a 4.4: ao menos 25 intervenções selecionadas, avaliadas em CAPEX/OPEX, benefício-custo e hierarquizadas por AHP.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57663" y="4754880"/>
            <a:ext cx="169950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57663" y="4919472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SICARD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57663" y="5230368"/>
            <a:ext cx="131489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AHP Tool Calculator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57663" y="5541264"/>
            <a:ext cx="165504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Calculadora Aderência 2.0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04639" y="2377440"/>
            <a:ext cx="2028687" cy="34747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04639" y="2377440"/>
            <a:ext cx="2028687" cy="381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69231" y="2560320"/>
            <a:ext cx="16995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D-17 / D-18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69231" y="2788920"/>
            <a:ext cx="16995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Governança e institucional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9231" y="3337560"/>
            <a:ext cx="16995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Temas que não viram projeto migram para as entregas de governança e de aspectos jurídicos, institucionais e regulatórios.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69231" y="4754880"/>
            <a:ext cx="169950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669231" y="4919472"/>
            <a:ext cx="74797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SIGMA-PLI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Termo de Referencia do PLI-SP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Cadeia de produtos    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0467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8F1F6"/>
                </a:solidFill>
                <a:latin typeface="Segoe UI Semibold"/>
              </a:rPr>
              <a:t>Como as peças conversam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FB0C2"/>
                </a:solidFill>
                <a:latin typeface="Segoe UI"/>
              </a:rPr>
              <a:t>O portfólio não é um conjunto de sistemas isolados: quatro integrações já em produção ligam sensor, cadastro e decisão.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488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SENSORES E COLETA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377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77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560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PLI-HazardTrack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87121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chuva MERGE/INPE → risco por trecho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520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520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703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PLI Reporta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1421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relato do cidadão → incidente verificado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1488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OPERAÇÃO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0288" y="292608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90288" y="292608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9744" y="310896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PLI Smart Router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9744" y="341985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rota que desvia do risco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01568" y="2834640"/>
            <a:ext cx="1188720" cy="36576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29000" y="2706624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CAMADAS DE RISCO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3401568" y="3611880"/>
            <a:ext cx="1188720" cy="365759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429000" y="3483863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GEOJSON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22208" y="21488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LEITURA DO TERRITÓRIO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22208" y="2377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22208" y="2377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41664" y="2560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FAD-Stats 2.0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1664" y="287121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IBGE · SECEX · MTE · ANTT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22208" y="3520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E0A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22208" y="3520440"/>
            <a:ext cx="44450" cy="9144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41664" y="3703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41664" y="401421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sinistralidade e densidade da malha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937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PLATAFORMA CENTRAL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EC2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166360"/>
            <a:ext cx="44450" cy="9144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" y="53492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SIGMA-PLI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" y="566013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metadados, identidade e grafo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90288" y="4937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DECISÃO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90288" y="516636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09744" y="53492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SICARD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9744" y="566013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carteira hierarquizada por AHP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937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MÉTODO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2220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EC2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522208" y="5166360"/>
            <a:ext cx="44450" cy="9144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41664" y="53492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AHP Tool Calculator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41664" y="566013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pesos e consistência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401568" y="5623560"/>
            <a:ext cx="1188720" cy="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429000" y="5312664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LOGIN E CADASTROS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7333488" y="5623560"/>
            <a:ext cx="1188720" cy="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60920" y="5312664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MÉTODO AHP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4 integrações em produção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Arquitetura    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SITUAÇÃO E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04672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F1F6"/>
                </a:solidFill>
                <a:latin typeface="Segoe UI Semibold"/>
              </a:rPr>
              <a:t>Onde o portfólio está hoje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459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3EC26E"/>
                </a:solidFill>
                <a:latin typeface="Segoe UI Semibold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128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NO SERVIDOR PRÓPRIO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67328" y="16459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0A33A"/>
                </a:solidFill>
                <a:latin typeface="Segoe UI Semibol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22128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SUSPENSAS NO RENDER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6288" y="16459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6288" y="22128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INTEGRAÇÕES ATIVAS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633472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017520"/>
            <a:ext cx="341162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F1F6"/>
                </a:solidFill>
                <a:latin typeface="Segoe UI Semibold"/>
              </a:rPr>
              <a:t>Infraestrutura própria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520440"/>
            <a:ext cx="341162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As 6 aplicações dos Sistemas Maiores rodam em containers Docker atrás de um Nginx na instância EC2 do PLI, cada uma com seu banco PostgreSQL/PostGIS.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8FB0C2"/>
                </a:solidFill>
                <a:latin typeface="Segoe UI"/>
              </a:rPr>
              <a:t>É a base madura do portfólio: disponível, versionada e integrada.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0034" y="3017520"/>
            <a:ext cx="341162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F1F6"/>
                </a:solidFill>
                <a:latin typeface="Segoe UI Semibold"/>
              </a:rPr>
              <a:t>Hospedagem externa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034" y="3520440"/>
            <a:ext cx="341162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As 6 aplicações de Análises Exploratórias e Ferramentas estão no Render e hoje respondem Service Suspended.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8FB0C2"/>
                </a:solidFill>
                <a:latin typeface="Segoe UI"/>
              </a:rPr>
              <a:t>Retomá-las exige decidir entre reativar o plano ou migrá-las para a mesma infraestrutura dos sistemas maiores.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1700" y="3017520"/>
            <a:ext cx="341162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F1F6"/>
                </a:solidFill>
                <a:latin typeface="Segoe UI Semibold"/>
              </a:rPr>
              <a:t>Próximo passo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1700" y="3520440"/>
            <a:ext cx="341162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Concluir a análise aplicação por aplicação e classificar cada uma como produto, módulo, serviço compartilhado, biblioteca, ferramenta interna ou protótipo.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8FB0C2"/>
                </a:solidFill>
                <a:latin typeface="Segoe UI"/>
              </a:rPr>
              <a:t>Só então definir a arquitetura da empresa e a estratégia comercial.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https://56.125.163.194/pli-hub/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VPC-GEOSER · 31 de agosto de 2026    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PROCEDÊNCIA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8F1F6"/>
                </a:solidFill>
                <a:latin typeface="Segoe UI Semibold"/>
              </a:rPr>
              <a:t>De onde vem cada afirmação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0C2"/>
                </a:solidFill>
                <a:latin typeface="Segoe UI"/>
              </a:rPr>
              <a:t>Nada neste documento foi escrito de memória. O enquadramento institucional vem das fontes oficiais do plano; o detalhamento técnico, da documentação das próprias aplicações.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31720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230428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Portal oficial do PLI-SP 2050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4688" y="2331720"/>
            <a:ext cx="6028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pli.semil.sp.gov.br — produtos, painéis interativos e relatórios técnicos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9864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08152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305409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Termo de Referência do PLI-SP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4688" y="3081528"/>
            <a:ext cx="6028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Metas 3.3 e 4.1 a 4.4, base normativa da triagem e da hierarquização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48456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831336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0390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Infosiga-SP · Detran-SP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3831336"/>
            <a:ext cx="6028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Sistema de Informações Gerenciais de Sinistros de Trânsito, 645 municípios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98264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581144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8296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4553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DER-SP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4688" y="4581144"/>
            <a:ext cx="6028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Autarquia gestora da malha rodoviária estadual, com dados abertos por tema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148072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330952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8296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53035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F1F6"/>
                </a:solidFill>
                <a:latin typeface="Segoe UI Semibold"/>
              </a:rPr>
              <a:t>Documentação das próprias aplicações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5330952"/>
            <a:ext cx="60286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READMEs, metodologias e inventários de implementação no servidor de produção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89788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https://56.125.163.194/pli-hub/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VPC-GEOSER · 31 de agosto de 2026    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