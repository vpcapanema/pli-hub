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53935" y="0"/>
            <a:ext cx="4937760" cy="6858000"/>
          </a:xfrm>
          <a:prstGeom prst="rect">
            <a:avLst/>
          </a:prstGeom>
          <a:solidFill>
            <a:srgbClr val="08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253935" y="0"/>
            <a:ext cx="12700" cy="6858000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86868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VPC-GEOSER · 31 DE AGOSTO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6766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5000"/>
              </a:lnSpc>
            </a:pPr>
            <a:r>
              <a:rPr sz="8800" b="1">
                <a:solidFill>
                  <a:srgbClr val="E8F1F6"/>
                </a:solidFill>
                <a:latin typeface="Segoe UI Semibold"/>
              </a:rPr>
              <a:t>PLI 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429000"/>
            <a:ext cx="5669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8FB0C2"/>
                </a:solidFill>
                <a:latin typeface="Segoe UI"/>
              </a:rPr>
              <a:t>Portfólio de aplicações web do Programa Litoral Integrado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1772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APLICAÇÕES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82803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F1F6"/>
                </a:solidFill>
                <a:latin typeface="Segoe UI"/>
              </a:rPr>
              <a:t>12 sistemas em 3 categorias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18464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CENTRAL DE ACESSO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39496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F1F6"/>
                </a:solidFill>
                <a:latin typeface="Segoe UI"/>
              </a:rPr>
              <a:t>https://56.125.163.194/pli-hub/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751576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RESPONSÁVEL TÉCNICO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6188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F1F6"/>
                </a:solidFill>
                <a:latin typeface="Segoe UI"/>
              </a:rPr>
              <a:t>Vinicius do Prado Capanema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94015" y="123444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NESTE DOCUMENTO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94015" y="1645920"/>
            <a:ext cx="3657600" cy="3175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94015" y="1755648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A6D9"/>
                </a:solidFill>
                <a:latin typeface="Segoe UI Semibold"/>
              </a:rPr>
              <a:t>Sistemas Maiores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4015" y="202996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SIGMA-PLI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4015" y="2267712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SICARD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4015" y="2505456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PLI Smart Router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4015" y="2743200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PLI Reporta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94015" y="298094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PLI-HazardTrack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4015" y="321868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FAD-Stats 2.0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94015" y="3639312"/>
            <a:ext cx="3657600" cy="3175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94015" y="3749040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0A33A"/>
                </a:solidFill>
                <a:latin typeface="Segoe UI Semibold"/>
              </a:rPr>
              <a:t>Análises Exploratórias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4015" y="4023360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Acidentes Infosiga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94015" y="426110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Acidentes 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94015" y="44988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Densidade Malha SP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94015" y="4919472"/>
            <a:ext cx="3657600" cy="3175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94015" y="5029200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EC26E"/>
                </a:solidFill>
                <a:latin typeface="Segoe UI Semibold"/>
              </a:rPr>
              <a:t>Ferramentas Analíticas e de Produção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4015" y="5303520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Calculadora Aderência 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94015" y="554126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AHP Tool Calculator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94015" y="577900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Formulário Embarcadores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PANORAMA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0467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8F1F6"/>
                </a:solidFill>
                <a:latin typeface="Segoe UI Semibold"/>
              </a:rPr>
              <a:t>O portfólio em um relance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002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8F1F6"/>
                </a:solidFill>
                <a:latin typeface="Segoe UI Semibold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488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APLICAÇÕES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71216" y="16002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8F1F6"/>
                </a:solidFill>
                <a:latin typeface="Segoe UI Semibol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71216" y="21488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CATEGORIAS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4064" y="16002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3EC26E"/>
                </a:solidFill>
                <a:latin typeface="Segoe UI Semibold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4064" y="21488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NO AR HOJE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16002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0A33A"/>
                </a:solidFill>
                <a:latin typeface="Segoe UI Semibol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21488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SUSPENSAS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16002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8F1F6"/>
                </a:solidFill>
                <a:latin typeface="Segoe UI Semibol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21488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COM TELA REGISTRADA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5603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2880360"/>
            <a:ext cx="3411626" cy="381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63240"/>
            <a:ext cx="341162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3AA6D9"/>
                </a:solidFill>
                <a:latin typeface="Segoe UI Semibold"/>
              </a:rPr>
              <a:t>Sistemas Maiores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611880"/>
            <a:ext cx="341162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6 aplicações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977639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" y="3959351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SIGMA-PLI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68826" y="4023359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4251959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379975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" y="4361687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SICARD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68826" y="4425695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4654295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782311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" y="4764023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PLI Smart Router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68826" y="4828031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5056631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5184647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" y="5166359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PLI Reporta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68826" y="5230367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458967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5586983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" y="5568695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PLI-HazardTrack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68826" y="5632703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861303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5989319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" y="5971031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FAD-Stats 2.0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68826" y="6035039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6263639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90034" y="2880360"/>
            <a:ext cx="3411626" cy="381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90034" y="3063240"/>
            <a:ext cx="341162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E0A33A"/>
                </a:solidFill>
                <a:latin typeface="Segoe UI Semibold"/>
              </a:rPr>
              <a:t>Análises Exploratórias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90034" y="3611880"/>
            <a:ext cx="341162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3 aplicações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90034" y="3977639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74082" y="3959351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Acidentes Infosiga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00492" y="4023359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0034" y="4251959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90034" y="4379975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74082" y="4361687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Acidentes DER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600492" y="4425695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390034" y="4654295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90034" y="4782311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74082" y="4764023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Densidade Malha SP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600492" y="4828031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90034" y="5056631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121700" y="2880360"/>
            <a:ext cx="3411626" cy="381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21700" y="3063240"/>
            <a:ext cx="341162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3EC26E"/>
                </a:solidFill>
                <a:latin typeface="Segoe UI Semibold"/>
              </a:rPr>
              <a:t>Ferramentas Analíticas e de Produção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21700" y="3611880"/>
            <a:ext cx="341162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3 aplicações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21700" y="3977639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05748" y="3959351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Calculadora Aderência 2.0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332159" y="4023359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121700" y="4251959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21700" y="4379975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5748" y="4361687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AHP Tool Calculator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332159" y="4425695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121700" y="4654295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21700" y="4782311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5748" y="4764023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Formulário Embarcadores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1332159" y="4828031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121700" y="5056631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https://56.125.163.194/pli-hub/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Panorama     02/17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SIGMA-PLI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Sistema Integrado de Gestão, Monitoramento e Apoio Técnico ao Plano de Legado de Informações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Cataloga, organiza e disponibiliza os dados técnicos do Plano de Legado de Informações do Estado de São Paulo. É a plataforma central: além de entregar valor por si só, fornece autenticação e cadastro de pessoas e instituições para as demais aplicações.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A6D9"/>
                </a:solidFill>
                <a:latin typeface="Segoe UI Semibold"/>
              </a:rPr>
              <a:t>Plataforma central do ecossistema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142827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FastAPI · Python 3.12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68940" y="5029200"/>
            <a:ext cx="154166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PostgreSQL 17 + PostGIS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92896" y="5029200"/>
            <a:ext cx="69128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Memgraph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340096"/>
            <a:ext cx="747972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GeoServer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8636" y="5340096"/>
            <a:ext cx="63458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 Shiny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05520" y="5340096"/>
            <a:ext cx="97474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Cloudflare R2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62556" y="5340096"/>
            <a:ext cx="1031432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Docker + Nginx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igm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Painel do SIGMA-PLI · relatório de atividades, jun/2026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Catálogo de metadados com upload, indexação e busca avançada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Autenticação JWT e cadastro PF/PJ com verificação de e-mail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Grafo de conhecimento em Memgraph para descobrir relações entre dados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40680" y="566013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96712" y="5577840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WebGIS próprio: camadas OGC (WMS/WFS) publicadas via GeoServer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40680" y="5943600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96712" y="5861304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Dashboards interativos em R Shiny e painel administrativo completo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03/17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SIGMA-PLI ·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04672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E8F1F6"/>
                </a:solidFill>
                <a:latin typeface="Segoe UI Semibold"/>
              </a:rPr>
              <a:t>A plataforma central, módulo a módulo</a:t>
            </a:r>
          </a:p>
        </p:txBody>
      </p:sp>
      <p:pic>
        <p:nvPicPr>
          <p:cNvPr id="5" name="Picture 4" descr="sigma_graf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0200"/>
            <a:ext cx="3657600" cy="2286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" y="1600200"/>
            <a:ext cx="3657600" cy="228600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395020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Explorador de grafo do módulo M09 · relatório de atividades, jun/2026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315968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Cada módulo é uma área funcional própria. Juntos, formam a base sobre a qual as outras aplicações do PLI se apoiam.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73168" y="1600200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73168" y="1600200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6048" y="1700784"/>
            <a:ext cx="17992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048" y="1892808"/>
            <a:ext cx="17992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Home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130552"/>
            <a:ext cx="179923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Página pública, status do sistema e health checks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93610" y="1600200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93610" y="1600200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76490" y="1700784"/>
            <a:ext cx="17992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76490" y="1892808"/>
            <a:ext cx="17992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Auth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6490" y="2130552"/>
            <a:ext cx="179923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Login, cadastro PF/PJ e verificação de e-mail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4052" y="1600200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14052" y="1600200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96932" y="1700784"/>
            <a:ext cx="17992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96932" y="1892808"/>
            <a:ext cx="17992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932" y="2130552"/>
            <a:ext cx="179923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Painel pós-login, KPIs e navegação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73168" y="2706624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73168" y="2706624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807208"/>
            <a:ext cx="17992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6048" y="2999232"/>
            <a:ext cx="17992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Dicionário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3236976"/>
            <a:ext cx="179923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Catálogo de metadados, upload S3 e WebGIS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93610" y="2706624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93610" y="2706624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76490" y="2807208"/>
            <a:ext cx="17992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76490" y="2999232"/>
            <a:ext cx="17992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Minha Área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76490" y="3236976"/>
            <a:ext cx="179923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Perfil, calendário, tarefas e uploads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14052" y="2706624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14052" y="2706624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96932" y="2807208"/>
            <a:ext cx="17992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96932" y="2999232"/>
            <a:ext cx="17992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Calendário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96932" y="3236976"/>
            <a:ext cx="179923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Calendário de atividades e eventos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73168" y="3813048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73168" y="3813048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56048" y="3913632"/>
            <a:ext cx="17992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56048" y="4105656"/>
            <a:ext cx="17992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Relatórios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56048" y="4343400"/>
            <a:ext cx="179923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Relatórios de cadastros e usuários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93610" y="3813048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093610" y="3813048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76490" y="3913632"/>
            <a:ext cx="17992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76490" y="4105656"/>
            <a:ext cx="17992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Ferramentas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76490" y="4343400"/>
            <a:ext cx="179923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Hub de ferramentas, GeoServer ETL e Shiny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414052" y="3813048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414052" y="3813048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96932" y="3913632"/>
            <a:ext cx="17992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96932" y="4105656"/>
            <a:ext cx="17992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Management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96932" y="4343400"/>
            <a:ext cx="179923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Painel admin, cadastros, sessões e solicitações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73168" y="4919472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73168" y="4919472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56048" y="5020056"/>
            <a:ext cx="17992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56048" y="5212080"/>
            <a:ext cx="17992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Memgraph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56048" y="5449824"/>
            <a:ext cx="179923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Explorador de grafo, busca e governança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93610" y="4919472"/>
            <a:ext cx="2119274" cy="960120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93610" y="4919472"/>
            <a:ext cx="38100" cy="96012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76490" y="5020056"/>
            <a:ext cx="17992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AA6D9"/>
                </a:solidFill>
                <a:latin typeface="Consolas"/>
              </a:rPr>
              <a:t>MX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76490" y="5212080"/>
            <a:ext cx="17992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8F1F6"/>
                </a:solidFill>
                <a:latin typeface="Segoe UI Semibold"/>
              </a:rPr>
              <a:t>SIGMA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76490" y="5449824"/>
            <a:ext cx="179923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FB0C2"/>
                </a:solidFill>
                <a:latin typeface="Segoe UI"/>
              </a:rPr>
              <a:t>Monitoramento de infraestrutura e da VM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04/17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SICARD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Sistema Inteligente de Cadastro e Ranking de Demandas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Cadastra, analisa, hierarquiza e acompanha planos, programas e projetos. Combina análise multicritério AHP, processamento geoespacial e trilha de auditoria para transformar demandas soltas em uma carteira priorizada.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A6D9"/>
                </a:solidFill>
                <a:latin typeface="Segoe UI Semibold"/>
              </a:rPr>
              <a:t>Apoio à decisão sobre a carteira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148496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FastAPI · Python 3.11+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25632" y="5029200"/>
            <a:ext cx="176842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PostgreSQL 17 + PostGIS 3.5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76356" y="5029200"/>
            <a:ext cx="86135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HTML/CSS/JS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340096"/>
            <a:ext cx="114481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API do SIGMA-PLI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https://56.125.163.194/sicard/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i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Portal público do SICARD · captura ao vivo, 31/ago/2026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Hierarquização multicritério por AHP, com pesos auditáveis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Triagem socioambiental e favorabilidade territorial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Bancadas espaciais e painéis de acompanhamento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40680" y="566013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96712" y="5577840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Login e cadastro de pessoas e instituições consumidos do SIGMA-PLI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40680" y="5943600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96712" y="5861304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Trilha de auditoria de ponta a ponta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https://56.125.163.194/sicard/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05/17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PLI Smart Router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Roteirizador com resiliência climática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Calcula rotas reais sobre a malha do PLI/SP 2050, sobrepõe os alertas em tempo real do HazardTrack e do PLI Reporta e recalcula o trajeto automaticamente, desviando das áreas afetadas.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A6D9"/>
                </a:solidFill>
                <a:latin typeface="Segoe UI Semibold"/>
              </a:rPr>
              <a:t>Onde o alerta vira decisão operacional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521204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Flask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61868" y="5029200"/>
            <a:ext cx="63458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Leaflet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78752" y="5029200"/>
            <a:ext cx="1371584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OSRM · OpenStreetMap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32632" y="5029200"/>
            <a:ext cx="125820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Nominatim · ViaCEP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https://56.125.163.194/smart-router/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martrou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Malha e camadas de risco · captura ao vivo, 31/ago/2026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Origem e destino por coordenada, busca textual ou clique no mapa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Geocoding automático: CEP via ViaCEP, endereço via Nominatim/OSM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Roteamento OSRM com waypoints intermediários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40680" y="566013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96712" y="5577840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Camadas ao vivo de risco (HazardTrack) e de incidentes (PLI Reporta)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40680" y="5943600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96712" y="5861304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Smart route: rota alternativa com buffer de segurança de 500 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https://56.125.163.194/smart-router/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06/17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PLI Reporta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PWA colaborativa de reportes viários georreferenciados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Aplicativo mobile-first em que o cidadão reporta ocorrências na via. Os relatos passam por um pipeline de veracidade e relevância e só então alimentam os serviços de roteamento e alerta como incidentes verificados.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A6D9"/>
                </a:solidFill>
                <a:latin typeface="Segoe UI Semibold"/>
              </a:rPr>
              <a:t>A camada de incidentes verificados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120150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FastAPI · Uvicorn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42172" y="5029200"/>
            <a:ext cx="63458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PostGIS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59056" y="5029200"/>
            <a:ext cx="114481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PWA mobile-first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86168" y="5029200"/>
            <a:ext cx="63458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GeoJSON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https://56.125.163.194/pli-reporta/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epor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Tela de reporte do cidadão · captura ao vivo, 31/ago/2026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Reportes de buraco, alagamento, acidente, bloqueio, obra e sinalização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Pipeline de veracidade e relevância antes da publicação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Mapa público e fluxo de moderação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40680" y="566013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96712" y="5577840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Endpoint GeoJSON estável para integração com o roteador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40680" y="5943600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96712" y="5861304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Instalável como PWA, pensado para uso em campo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https://56.125.163.194/pli-reporta/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07/17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PLI-HazardTrack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SAMAEG-PLI · Monitoramento, Análise e Alerta Geodinâmico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Monitora chuva em streaming e traduz o dado bruto em risco por trecho rodoviário do DER-SP. Implementa o conceito do Produto 06 do relatório REGEA-NIPPON 2021, com o modelo oficial de Risco Dinâmico.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A6D9"/>
                </a:solidFill>
                <a:latin typeface="Segoe UI Semibold"/>
              </a:rPr>
              <a:t>O sensor climático da malha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18560" y="5029200"/>
            <a:ext cx="114481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MERGE/CPTEC/INPE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5672" y="5029200"/>
            <a:ext cx="634588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PostGIS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62556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Docker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https://56.125.163.194/pli-hazardtrack/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hazardtra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Mapa integrado de riscos climáticos · captura ao vivo, 31/ago/2026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Dados reais de chuva MERGE/CPTEC/INPE consumidos em streaming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Modelo de Risco Dinâmico RD = RA × ICC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96712" y="5294376"/>
            <a:ext cx="5836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Quatro regiões climático-geológico-geomorfológicas do litoral norte e da baixada santista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40680" y="584301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96712" y="5760720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Camadas de movimento de massa, inundação e risco de fogo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40680" y="6126480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96712" y="6044184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Níveis operacionais compatíveis com o PPDC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https://56.125.163.194/pli-hazardtrack/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08/17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APLICAÇÃO 06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56087" y="411480"/>
            <a:ext cx="699516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FAD-Stats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Ferramenta de Análise Dinamizada de Dados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Plataforma de análise estatística e espacial de dados oficiais. Reúne produção agropecuária, comércio exterior, mercado de trabalho e logística em uma única bancada de exploração.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A6D9"/>
                </a:solidFill>
                <a:latin typeface="Segoe UI Semibold"/>
              </a:rPr>
              <a:t>Leitura socioeconômica do território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18560" y="5029200"/>
            <a:ext cx="974740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PostgreSQL 17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5596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Docker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35788" y="5029200"/>
            <a:ext cx="521204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Nginx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https://56.125.163.194/fad-stats/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adst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Hub de dashboards da FAD-Stats · relatório de atividades, jun/2026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Fontes oficiais: IBGE, SECEX, MTE e ANTT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21 tipos de gráfico e 6 tipos de mapa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Recortes municipais e regionais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40680" y="5660136"/>
            <a:ext cx="128016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96712" y="5577840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Interface pública com a barra padrão do Governo de São Paulo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https://56.125.163.194/fad-stats/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Sistemas Maiores     09/17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E0A33A"/>
                </a:solidFill>
                <a:latin typeface="Consolas"/>
              </a:rPr>
              <a:t>APLICAÇÃO 07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ANÁLISES EXPLORATÓRIAS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Acidentes Infosiga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Análise exploratória da base Infosiga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Análise exploratória dos acidentes registrados no sistema Infosiga, com filtros por período, tipo de ocorrência e localização.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0A33A"/>
                </a:solidFill>
                <a:latin typeface="Segoe UI Semibold"/>
              </a:rPr>
              <a:t>Diagnóstico de sinistralidade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18560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https://acidentes-infosiga.onrender.com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nfosig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Portal de acidentes rodoviários · relatório de atividades, jun/2026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Base oficial Infosiga de sinistros de trânsito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Filtros por período, tipo e localização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Visualizações interativas de séries e distribuições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https://acidentes-infosiga.onrender.com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Análises Exploratórias     10/17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E0A33A"/>
                </a:solidFill>
                <a:latin typeface="Consolas"/>
              </a:rPr>
              <a:t>APLICAÇÃO 08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ANÁLISES EXPLORATÓRIAS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Acidentes 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Análise exploratória da base do DER-SP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Análise exploratória dos acidentes registrados pelo DER-SP, organizada por rodovia e por período.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0A33A"/>
                </a:solidFill>
                <a:latin typeface="Segoe UI Semibold"/>
              </a:rPr>
              <a:t>Sinistralidade por rodovia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18560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https://acidentes-der-analise-exploratoria.onrender.com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cidentes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Análise consolidada 2023-2025 · relatório de atividades, jun/2026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Recorte por rodovia sob gestão do DER-SP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Séries temporais e comparação entre trechos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Insumo direto para priorização de intervenções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https://acidentes-der-analise-exploratoria.onrender.com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Análises Exploratórias     11/17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E0A33A"/>
                </a:solidFill>
                <a:latin typeface="Consolas"/>
              </a:rPr>
              <a:t>APLICAÇÃO 09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ANÁLISES EXPLORATÓRIAS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Densidade Malha 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Densidade da malha viária estadual paulista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Mede e visualiza a densidade da malha viária estadual por trecho e por região, expondo vazios e concentrações de cobertura.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0A33A"/>
                </a:solidFill>
                <a:latin typeface="Segoe UI Semibold"/>
              </a:rPr>
              <a:t>Cobertura da rede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18560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0680" y="932688"/>
            <a:ext cx="6092647" cy="237744"/>
          </a:xfrm>
          <a:prstGeom prst="rect">
            <a:avLst/>
          </a:prstGeom>
          <a:solidFill>
            <a:srgbClr val="103246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0" tIns="0" bIns="0"/>
          <a:lstStyle/>
          <a:p>
            <a:pPr algn="ctr"/>
            <a:r>
              <a:rPr sz="800">
                <a:solidFill>
                  <a:srgbClr val="5D8296"/>
                </a:solidFill>
                <a:latin typeface="Consolas"/>
              </a:rPr>
              <a:t>   https://densidade-de-malha-estadual-sp.onrender.com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32120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0136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88152" y="987552"/>
            <a:ext cx="73152" cy="73152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ensida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70432"/>
            <a:ext cx="6092647" cy="278892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5440680" y="1170432"/>
            <a:ext cx="6092647" cy="2788920"/>
          </a:xfrm>
          <a:prstGeom prst="rect">
            <a:avLst/>
          </a:prstGeom>
          <a:noFill/>
          <a:ln w="9525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680" y="4032504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Análise geoespacial da malha · relatório de atividades, jun/2026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441655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4809744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96712" y="472744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Densidade calculada por trecho e por região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0680" y="5093208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96712" y="5010912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Leitura territorial dos vazios de cobertura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5376672"/>
            <a:ext cx="128016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96712" y="5294376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Base para estudos de expansão da malha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https://densidade-de-malha-estadual-sp.onrender.com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Análises Exploratórias     12/17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APLICAÇÃO 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FERRAMENTAS ANALÍTICAS E DE PRODUÇÃO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Calculadora Aderência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Aderência de indicadores a metas e resultados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Calcula a aderência de indicadores para avaliar a conformidade de metas e resultados, padronizando o julgamento entre equipes.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EC26E"/>
                </a:solidFill>
                <a:latin typeface="Segoe UI Semibold"/>
              </a:rPr>
              <a:t>Conformidade de indicadores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18560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0680" y="1170432"/>
            <a:ext cx="6092647" cy="1051560"/>
          </a:xfrm>
          <a:prstGeom prst="rect">
            <a:avLst/>
          </a:prstGeom>
          <a:noFill/>
          <a:ln w="12700">
            <a:solidFill>
              <a:srgbClr val="1A46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1371600"/>
            <a:ext cx="554400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A33A"/>
                </a:solidFill>
                <a:latin typeface="Segoe UI Semibold"/>
              </a:rPr>
              <a:t>Sem captura disponível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1673352"/>
            <a:ext cx="55440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D8296"/>
                </a:solidFill>
                <a:latin typeface="Segoe UI"/>
              </a:rPr>
              <a:t>A aplicação está suspensa no Render e não aparece nas capturas do relatório de atividades. A tela entra assim que o serviço for reativado.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263347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3026664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96712" y="294436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Avaliação de conformidade de metas e resultados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40680" y="3310128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3227832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Critério uniforme entre diferentes equipes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3593592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96712" y="3511296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Segunda geração da calculadora original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https://calculadora-aderencia-indicadores-2-0.onrender.com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Ferramentas Analíticas e de Produção     13/17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APLICAÇÃO 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FERRAMENTAS ANALÍTICAS E DE PRODUÇÃO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AHP Tool Calculator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Análise hierárquica de processos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Ferramenta de análise hierárquica de processos (AHP) para ponderar critérios e priorizar alternativas. É o método que o SICARD incorpora na hierarquização da carteira.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EC26E"/>
                </a:solidFill>
                <a:latin typeface="Segoe UI Semibold"/>
              </a:rPr>
              <a:t>O motor de priorização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18560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0680" y="1170432"/>
            <a:ext cx="6092647" cy="1051560"/>
          </a:xfrm>
          <a:prstGeom prst="rect">
            <a:avLst/>
          </a:prstGeom>
          <a:noFill/>
          <a:ln w="12700">
            <a:solidFill>
              <a:srgbClr val="1A46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1371600"/>
            <a:ext cx="554400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A33A"/>
                </a:solidFill>
                <a:latin typeface="Segoe UI Semibold"/>
              </a:rPr>
              <a:t>Sem captura disponível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1673352"/>
            <a:ext cx="55440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D8296"/>
                </a:solidFill>
                <a:latin typeface="Segoe UI"/>
              </a:rPr>
              <a:t>A aplicação está suspensa no Render e não aparece nas capturas do relatório de atividades. A tela entra assim que o serviço for reativado.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263347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3026664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96712" y="294436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Matriz de comparação par a par entre critérios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40680" y="3310128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3227832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Pesos e razão de consistência calculados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3593592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96712" y="3511296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Mesmo método aplicado dentro do SICARD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https://vpc-geoser-ahp-tool-calculator.onrender.com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Ferramentas Analíticas e de Produção     14/17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APLICAÇÃO 12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45720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FERRAMENTAS ANALÍTICAS E DE PRODUÇÃO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27487" y="411480"/>
            <a:ext cx="932688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E8F1F6"/>
                </a:solidFill>
                <a:latin typeface="Segoe UI Semibold"/>
              </a:rPr>
              <a:t>Formulário Embarcadores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Entrevista com embarcadores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Formulário estruturado de entrevista com embarcadores para levantamento de dados logísticos e de transporte em campo.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38100" cy="36576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427024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EC26E"/>
                </a:solidFill>
                <a:latin typeface="Segoe UI Semibold"/>
              </a:rPr>
              <a:t>Coleta primária de dado logístico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846320"/>
            <a:ext cx="4480560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18560" y="5029200"/>
            <a:ext cx="577896" cy="237744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0680" y="1170432"/>
            <a:ext cx="6092647" cy="1051560"/>
          </a:xfrm>
          <a:prstGeom prst="rect">
            <a:avLst/>
          </a:prstGeom>
          <a:noFill/>
          <a:ln w="12700">
            <a:solidFill>
              <a:srgbClr val="1A46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1371600"/>
            <a:ext cx="554400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A33A"/>
                </a:solidFill>
                <a:latin typeface="Segoe UI Semibold"/>
              </a:rPr>
              <a:t>Sem captura disponível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1673352"/>
            <a:ext cx="55440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D8296"/>
                </a:solidFill>
                <a:latin typeface="Segoe UI"/>
              </a:rPr>
              <a:t>A aplicação está suspensa no Render e não aparece nas capturas do relatório de atividades. A tela entra assim que o serviço for reativado.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2633472"/>
            <a:ext cx="60926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3026664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96712" y="2944368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Roteiro de entrevista padronizado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40680" y="3310128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3227832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Levantamento de origem, destino e modal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3593592"/>
            <a:ext cx="128016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96712" y="3511296"/>
            <a:ext cx="58366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3E3EC"/>
                </a:solidFill>
                <a:latin typeface="Segoe UI"/>
              </a:rPr>
              <a:t>Dado primário que alimenta os estudos logísticos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https://formulario-entrevista-embarcadores.onrender.com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Ferramentas Analíticas e de Produção     15/17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EC26E"/>
                </a:solidFill>
                <a:latin typeface="Consolas"/>
              </a:rPr>
              <a:t>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0467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E8F1F6"/>
                </a:solidFill>
                <a:latin typeface="Segoe UI Semibold"/>
              </a:rPr>
              <a:t>Como as peças conversam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8FB0C2"/>
                </a:solidFill>
                <a:latin typeface="Segoe UI"/>
              </a:rPr>
              <a:t>O portfólio não é um conjunto de sistemas isolados: quatro integrações já em produção ligam sensor, cadastro e decisão.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4884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SENSORES E COLETA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37744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37744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5603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PLI-HazardTrack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87121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chuva MERGE/INPE → risco por trecho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52044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52044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7033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PLI Reporta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01421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relato do cidadão → incidente verificado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14884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OPERAÇÃO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90288" y="292608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90288" y="292608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9744" y="310896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PLI Smart Router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9744" y="341985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rota que desvia do risco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01568" y="2834640"/>
            <a:ext cx="1188720" cy="365760"/>
          </a:xfrm>
          <a:prstGeom prst="line">
            <a:avLst/>
          </a:prstGeom>
          <a:ln w="15875">
            <a:solidFill>
              <a:srgbClr val="5D82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429000" y="2706624"/>
            <a:ext cx="1133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CAMADAS DE RISCO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3401568" y="3611880"/>
            <a:ext cx="1188720" cy="365759"/>
          </a:xfrm>
          <a:prstGeom prst="line">
            <a:avLst/>
          </a:prstGeom>
          <a:ln w="15875">
            <a:solidFill>
              <a:srgbClr val="5D82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429000" y="3483863"/>
            <a:ext cx="1133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GEOJSON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22208" y="214884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LEITURA DO TERRITÓRIO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22208" y="237744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22208" y="237744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41664" y="25603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FAD-Stats 2.0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41664" y="287121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IBGE · SECEX · MTE · ANTT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22208" y="352044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E0A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22208" y="3520440"/>
            <a:ext cx="44450" cy="9144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41664" y="37033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Análises Exploratórias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41664" y="401421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sinistralidade e densidade da malha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937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PLATAFORMA CENTRAL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516636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EC2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166360"/>
            <a:ext cx="44450" cy="9144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24" y="534924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SIGMA-PLI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" y="566013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metadados, identidade e grafo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90288" y="4937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DECISÃO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90288" y="516636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90288" y="516636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09744" y="534924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SICARD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9744" y="566013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carteira hierarquizada por AHP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937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D8296"/>
                </a:solidFill>
                <a:latin typeface="Consolas"/>
              </a:rPr>
              <a:t>MÉTODO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22208" y="516636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EC2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522208" y="5166360"/>
            <a:ext cx="44450" cy="9144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741664" y="534924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F1F6"/>
                </a:solidFill>
                <a:latin typeface="Segoe UI Semibold"/>
              </a:rPr>
              <a:t>AHP Tool Calculator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41664" y="5660136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pesos e consistência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401568" y="5623560"/>
            <a:ext cx="1188720" cy="0"/>
          </a:xfrm>
          <a:prstGeom prst="line">
            <a:avLst/>
          </a:prstGeom>
          <a:ln w="15875">
            <a:solidFill>
              <a:srgbClr val="5D82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429000" y="5312664"/>
            <a:ext cx="1133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LOGIN E CADASTROS</a:t>
            </a:r>
          </a:p>
        </p:txBody>
      </p:sp>
      <p:cxnSp>
        <p:nvCxnSpPr>
          <p:cNvPr id="50" name="Connector 49"/>
          <p:cNvCxnSpPr/>
          <p:nvPr/>
        </p:nvCxnSpPr>
        <p:spPr>
          <a:xfrm flipH="1">
            <a:off x="7333488" y="5623560"/>
            <a:ext cx="1188720" cy="0"/>
          </a:xfrm>
          <a:prstGeom prst="line">
            <a:avLst/>
          </a:prstGeom>
          <a:ln w="15875">
            <a:solidFill>
              <a:srgbClr val="5D82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360920" y="5312664"/>
            <a:ext cx="1133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MÉTODO AHP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4 integrações em produção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Arquitetura     16/17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SITUAÇÃO E 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04672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8F1F6"/>
                </a:solidFill>
                <a:latin typeface="Segoe UI Semibold"/>
              </a:rPr>
              <a:t>Onde o portfólio está hoje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4592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3EC26E"/>
                </a:solidFill>
                <a:latin typeface="Segoe UI Semibold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128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NO SERVIDOR PRÓPRIO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67328" y="164592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E0A33A"/>
                </a:solidFill>
                <a:latin typeface="Segoe UI Semibol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67328" y="22128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SUSPENSAS NO RENDER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76288" y="164592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E8F1F6"/>
                </a:solidFill>
                <a:latin typeface="Segoe UI Semibold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6288" y="22128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INTEGRAÇÕES ATIVAS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633472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017520"/>
            <a:ext cx="341162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8F1F6"/>
                </a:solidFill>
                <a:latin typeface="Segoe UI Semibold"/>
              </a:rPr>
              <a:t>Infraestrutura própria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520440"/>
            <a:ext cx="341162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As 6 aplicações dos Sistemas Maiores rodam em containers Docker atrás de um Nginx na instância EC2 do PLI, cada uma com seu banco PostgreSQL/PostGIS.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8FB0C2"/>
                </a:solidFill>
                <a:latin typeface="Segoe UI"/>
              </a:rPr>
              <a:t>É a base madura do portfólio: disponível, versionada e integrada.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0034" y="3017520"/>
            <a:ext cx="341162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8F1F6"/>
                </a:solidFill>
                <a:latin typeface="Segoe UI Semibold"/>
              </a:rPr>
              <a:t>Hospedagem externa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0034" y="3520440"/>
            <a:ext cx="341162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As 6 aplicações de Análises Exploratórias e Ferramentas estão no Render e hoje respondem Service Suspended.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8FB0C2"/>
                </a:solidFill>
                <a:latin typeface="Segoe UI"/>
              </a:rPr>
              <a:t>Retomá-las exige decidir entre reativar o plano ou migrá-las para a mesma infraestrutura dos sistemas maiores.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1700" y="3017520"/>
            <a:ext cx="341162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8F1F6"/>
                </a:solidFill>
                <a:latin typeface="Segoe UI Semibold"/>
              </a:rPr>
              <a:t>Próximo passo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1700" y="3520440"/>
            <a:ext cx="341162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8FB0C2"/>
                </a:solidFill>
                <a:latin typeface="Segoe UI"/>
              </a:rPr>
              <a:t>Concluir a análise aplicação por aplicação e classificar cada uma como produto, módulo, serviço compartilhado, biblioteca, ferramenta interna ou protótipo.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8FB0C2"/>
                </a:solidFill>
                <a:latin typeface="Segoe UI"/>
              </a:rPr>
              <a:t>Só então definir a arquitetura da empresa e a estratégia comercial.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35508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https://56.125.163.194/pli-hub/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1327" y="63550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VPC-GEOSER · 31 de agosto de 2026     17/17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