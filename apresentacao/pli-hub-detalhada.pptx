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53935" y="0"/>
            <a:ext cx="4937760" cy="6858000"/>
          </a:xfrm>
          <a:prstGeom prst="rect">
            <a:avLst/>
          </a:prstGeom>
          <a:solidFill>
            <a:srgbClr val="08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53935" y="0"/>
            <a:ext cx="12700" cy="6858000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A6D9"/>
                </a:solidFill>
                <a:latin typeface="Consolas"/>
              </a:rPr>
              <a:t>VPC-GEOSER · 31 DE AGOSTO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71600"/>
            <a:ext cx="6583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7600" b="1">
                <a:solidFill>
                  <a:srgbClr val="E8F1F6"/>
                </a:solidFill>
                <a:latin typeface="Segoe UI Semibold"/>
              </a:rPr>
              <a:t>PLI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95728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7600" b="1">
                <a:solidFill>
                  <a:srgbClr val="3AA6D9"/>
                </a:solidFill>
                <a:latin typeface="Segoe UI Semibold"/>
              </a:rPr>
              <a:t>em detalhe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57600"/>
            <a:ext cx="5669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8FB0C2"/>
                </a:solidFill>
                <a:latin typeface="Segoe UI"/>
              </a:rPr>
              <a:t>As 9 aplicações com tela registrada, uma a uma: o que fazem, como funcionam e de que dados vivem.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892040"/>
            <a:ext cx="5943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RECORTE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093208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F1F6"/>
                </a:solidFill>
                <a:latin typeface="Segoe UI"/>
              </a:rPr>
              <a:t>9 de 12 aplicações do 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440680"/>
            <a:ext cx="5943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CENTRAL DE ACESSO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641848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F1F6"/>
                </a:solidFill>
                <a:latin typeface="Segoe UI"/>
              </a:rPr>
              <a:t>https://56.125.163.194/pli-hub/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989320"/>
            <a:ext cx="5943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RESPONSÁVEL TÉCNICO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90488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F1F6"/>
                </a:solidFill>
                <a:latin typeface="Segoe UI"/>
              </a:rPr>
              <a:t>Vinicius do Prado Capanema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4015" y="1371600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NESTE DOCUMENTO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94015" y="1783080"/>
            <a:ext cx="3657600" cy="3175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94015" y="189280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AA6D9"/>
                </a:solidFill>
                <a:latin typeface="Segoe UI Semibold"/>
              </a:rPr>
              <a:t>Sistemas Maiores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4015" y="216712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B0C2"/>
                </a:solidFill>
                <a:latin typeface="Segoe UI"/>
              </a:rPr>
              <a:t>SIGMA-PLI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4015" y="24140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B0C2"/>
                </a:solidFill>
                <a:latin typeface="Segoe UI"/>
              </a:rPr>
              <a:t>SICARD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4015" y="266090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B0C2"/>
                </a:solidFill>
                <a:latin typeface="Segoe UI"/>
              </a:rPr>
              <a:t>PLI Smart Router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4015" y="2907792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B0C2"/>
                </a:solidFill>
                <a:latin typeface="Segoe UI"/>
              </a:rPr>
              <a:t>PLI Reporta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4015" y="3154680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B0C2"/>
                </a:solidFill>
                <a:latin typeface="Segoe UI"/>
              </a:rPr>
              <a:t>PLI-HazardTrack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4015" y="340156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B0C2"/>
                </a:solidFill>
                <a:latin typeface="Segoe UI"/>
              </a:rPr>
              <a:t>FAD-Stats 2.0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94015" y="3849624"/>
            <a:ext cx="3657600" cy="3175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94015" y="395935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A33A"/>
                </a:solidFill>
                <a:latin typeface="Segoe UI Semibold"/>
              </a:rPr>
              <a:t>Análises Exploratórias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4015" y="4233672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B0C2"/>
                </a:solidFill>
                <a:latin typeface="Segoe UI"/>
              </a:rPr>
              <a:t>Acidentes Infosiga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4015" y="4480560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B0C2"/>
                </a:solidFill>
                <a:latin typeface="Segoe UI"/>
              </a:rPr>
              <a:t>Acidentes 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4015" y="47274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B0C2"/>
                </a:solidFill>
                <a:latin typeface="Segoe UI"/>
              </a:rPr>
              <a:t>Densidade Malha SP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A6D9"/>
                </a:solidFill>
                <a:latin typeface="Consolas"/>
              </a:rPr>
              <a:t>RECORTE DESTE DOCUMENTO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F1F6"/>
                </a:solidFill>
                <a:latin typeface="Segoe UI Semibold"/>
              </a:rPr>
              <a:t>Só o que já tem tela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087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FB0C2"/>
                </a:solidFill>
                <a:latin typeface="Segoe UI"/>
              </a:rPr>
              <a:t>Das 12 aplicações do PLI Hub, 9 têm registro visual da interface — capturadas ao vivo no servidor de produção ou recuperadas das capturas do relatório de atividades. São essas que este documento detalha, com dois slides cada: a vitrine e o funcionamento por dentro.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1460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E8F1F6"/>
                </a:solidFill>
                <a:latin typeface="Segoe UI Semibold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0632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APLICAÇÕES DETALHADAS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10128" y="251460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3EC26E"/>
                </a:solidFill>
                <a:latin typeface="Segoe UI Semibold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0128" y="30632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NO 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61888" y="251460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E0A33A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1888" y="30632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SUSPENSAS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8" y="251460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E8F1F6"/>
                </a:solidFill>
                <a:latin typeface="Segoe UI Semibold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8" y="30632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SLIDES DE CONTEÚDO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474720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794760"/>
            <a:ext cx="3411626" cy="381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977639"/>
            <a:ext cx="341162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3AA6D9"/>
                </a:solidFill>
                <a:latin typeface="Segoe UI Semibold"/>
              </a:rPr>
              <a:t>Sistemas Maiores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72000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" y="4553712"/>
            <a:ext cx="268010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F1F6"/>
                </a:solidFill>
                <a:latin typeface="Segoe UI"/>
              </a:rPr>
              <a:t>SIGMA-PLI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68826" y="4617720"/>
            <a:ext cx="91440" cy="91440"/>
          </a:xfrm>
          <a:prstGeom prst="rect">
            <a:avLst/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4846320"/>
            <a:ext cx="3320186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95604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" y="4937760"/>
            <a:ext cx="268010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F1F6"/>
                </a:solidFill>
                <a:latin typeface="Segoe UI"/>
              </a:rPr>
              <a:t>SICARD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68826" y="5001768"/>
            <a:ext cx="91440" cy="91440"/>
          </a:xfrm>
          <a:prstGeom prst="rect">
            <a:avLst/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3320186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3400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" y="5321808"/>
            <a:ext cx="268010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F1F6"/>
                </a:solidFill>
                <a:latin typeface="Segoe UI"/>
              </a:rPr>
              <a:t>PLI Smart Router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68826" y="5385816"/>
            <a:ext cx="91440" cy="91440"/>
          </a:xfrm>
          <a:prstGeom prst="rect">
            <a:avLst/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614416"/>
            <a:ext cx="3320186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7241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" y="5705856"/>
            <a:ext cx="268010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F1F6"/>
                </a:solidFill>
                <a:latin typeface="Segoe UI"/>
              </a:rPr>
              <a:t>PLI Reporta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68826" y="5769864"/>
            <a:ext cx="91440" cy="91440"/>
          </a:xfrm>
          <a:prstGeom prst="rect">
            <a:avLst/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998464"/>
            <a:ext cx="3320186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610819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" y="6089904"/>
            <a:ext cx="268010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F1F6"/>
                </a:solidFill>
                <a:latin typeface="Segoe UI"/>
              </a:rPr>
              <a:t>PLI-HazardTrack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68826" y="6153912"/>
            <a:ext cx="91440" cy="91440"/>
          </a:xfrm>
          <a:prstGeom prst="rect">
            <a:avLst/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6382512"/>
            <a:ext cx="3320186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492240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" y="6473952"/>
            <a:ext cx="268010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F1F6"/>
                </a:solidFill>
                <a:latin typeface="Segoe UI"/>
              </a:rPr>
              <a:t>FAD-Stats 2.0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68826" y="6537960"/>
            <a:ext cx="91440" cy="91440"/>
          </a:xfrm>
          <a:prstGeom prst="rect">
            <a:avLst/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6766560"/>
            <a:ext cx="3320186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90034" y="3794760"/>
            <a:ext cx="3411626" cy="3810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90034" y="3977639"/>
            <a:ext cx="341162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E0A33A"/>
                </a:solidFill>
                <a:latin typeface="Segoe UI Semibold"/>
              </a:rPr>
              <a:t>Análises Exploratórias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0034" y="4572000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74082" y="4553712"/>
            <a:ext cx="268010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F1F6"/>
                </a:solidFill>
                <a:latin typeface="Segoe UI"/>
              </a:rPr>
              <a:t>Acidentes Infosiga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00492" y="4617720"/>
            <a:ext cx="91440" cy="914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90034" y="4846320"/>
            <a:ext cx="3320186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90034" y="495604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74082" y="4937760"/>
            <a:ext cx="268010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F1F6"/>
                </a:solidFill>
                <a:latin typeface="Segoe UI"/>
              </a:rPr>
              <a:t>Acidentes DER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00492" y="5001768"/>
            <a:ext cx="91440" cy="914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90034" y="5230368"/>
            <a:ext cx="3320186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90034" y="53400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74082" y="5321808"/>
            <a:ext cx="268010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F1F6"/>
                </a:solidFill>
                <a:latin typeface="Segoe UI"/>
              </a:rPr>
              <a:t>Densidade Malha SP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00492" y="5385816"/>
            <a:ext cx="91440" cy="914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90034" y="5614416"/>
            <a:ext cx="3320186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368" y="635508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https://56.125.163.194/pli-hub/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61327" y="635508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Recorte     02/21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A6D9"/>
                </a:solidFill>
                <a:latin typeface="Consolas"/>
              </a:rPr>
              <a:t>APLICAÇÃO 01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1488" y="457200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SISTEMAS MAIORES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56087" y="411480"/>
            <a:ext cx="699516" cy="237744"/>
          </a:xfrm>
          <a:prstGeom prst="roundRect">
            <a:avLst>
              <a:gd name="adj" fmla="val 15000"/>
            </a:avLst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0A2A16"/>
                </a:solidFill>
                <a:latin typeface="Consolas"/>
              </a:rPr>
              <a:t>NO 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4160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>
                <a:solidFill>
                  <a:srgbClr val="E8F1F6"/>
                </a:solidFill>
                <a:latin typeface="Segoe UI Semibold"/>
              </a:rPr>
              <a:t>SIGMA-PLI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19072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FB0C2"/>
                </a:solidFill>
                <a:latin typeface="Segoe UI"/>
              </a:rPr>
              <a:t>Sistema Integrado de Gestão, Monitoramento e Apoio Técnico ao Plano de Legado de Informações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41605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E8F1F6"/>
                </a:solidFill>
                <a:latin typeface="Segoe UI"/>
              </a:rPr>
              <a:t>Cataloga, organiza e disponibiliza os dados técnicos do Plano de Legado de Informações do Estado de São Paulo. É a plataforma central: além de entregar valor por si só, fornece autenticação e cadastro de pessoas e instituições para as demais aplicações.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315968"/>
            <a:ext cx="38100" cy="347472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4352544"/>
            <a:ext cx="4160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AA6D9"/>
                </a:solidFill>
                <a:latin typeface="Segoe UI Semibold"/>
              </a:rPr>
              <a:t>Plataforma central do ecossistema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956048"/>
            <a:ext cx="416052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5138928"/>
            <a:ext cx="1428276" cy="237744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>
                <a:solidFill>
                  <a:srgbClr val="8FB0C2"/>
                </a:solidFill>
                <a:latin typeface="Consolas"/>
              </a:rPr>
              <a:t>FastAPI · Python 3.12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68940" y="5138928"/>
            <a:ext cx="1541660" cy="237744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>
                <a:solidFill>
                  <a:srgbClr val="8FB0C2"/>
                </a:solidFill>
                <a:latin typeface="Consolas"/>
              </a:rPr>
              <a:t>PostgreSQL 17 + PostGIS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2896" y="5138928"/>
            <a:ext cx="691280" cy="237744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>
                <a:solidFill>
                  <a:srgbClr val="8FB0C2"/>
                </a:solidFill>
                <a:latin typeface="Consolas"/>
              </a:rPr>
              <a:t>Memgraph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449824"/>
            <a:ext cx="747972" cy="237744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>
                <a:solidFill>
                  <a:srgbClr val="8FB0C2"/>
                </a:solidFill>
                <a:latin typeface="Consolas"/>
              </a:rPr>
              <a:t>GeoServer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88636" y="5449824"/>
            <a:ext cx="634588" cy="237744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>
                <a:solidFill>
                  <a:srgbClr val="8FB0C2"/>
                </a:solidFill>
                <a:latin typeface="Consolas"/>
              </a:rPr>
              <a:t>R Shiny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05520" y="5449824"/>
            <a:ext cx="974740" cy="237744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>
                <a:solidFill>
                  <a:srgbClr val="8FB0C2"/>
                </a:solidFill>
                <a:latin typeface="Consolas"/>
              </a:rPr>
              <a:t>Cloudflare R2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62556" y="5449824"/>
            <a:ext cx="1031432" cy="237744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>
                <a:solidFill>
                  <a:srgbClr val="8FB0C2"/>
                </a:solidFill>
                <a:latin typeface="Consolas"/>
              </a:rPr>
              <a:t>Docker + Nginx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30368" y="1060704"/>
            <a:ext cx="6302959" cy="237744"/>
          </a:xfrm>
          <a:prstGeom prst="rect">
            <a:avLst/>
          </a:prstGeom>
          <a:solidFill>
            <a:srgbClr val="103246"/>
          </a:solidFill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0" tIns="0" bIns="0"/>
          <a:lstStyle/>
          <a:p>
            <a:pPr algn="ctr"/>
            <a:r>
              <a:rPr sz="800">
                <a:solidFill>
                  <a:srgbClr val="5D8296"/>
                </a:solidFill>
                <a:latin typeface="Consolas"/>
              </a:rPr>
              <a:t>   https://56.125.163.194/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21808" y="1115568"/>
            <a:ext cx="73152" cy="73152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49824" y="1115568"/>
            <a:ext cx="73152" cy="73152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77840" y="1115568"/>
            <a:ext cx="73152" cy="73152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igm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1298448"/>
            <a:ext cx="6302959" cy="283464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5230368" y="1298448"/>
            <a:ext cx="6302959" cy="2834640"/>
          </a:xfrm>
          <a:prstGeom prst="rect">
            <a:avLst/>
          </a:prstGeom>
          <a:noFill/>
          <a:ln w="9525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30368" y="4206240"/>
            <a:ext cx="6302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Painel do SIGMA-PLI · relatório de atividades, jun/2026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4572000"/>
            <a:ext cx="63029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O QUE ELA ENTREGA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30368" y="4928616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0" y="4846320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Catálogo de metadados com upload, indexação e busca avançada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30368" y="5212080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0" y="5129784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Autenticação JWT e cadastro PF/PJ com verificação de e-mail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30368" y="5495544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0" y="5413248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Grafo de conhecimento em Memgraph para descobrir relações entre dados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30368" y="5779008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0" y="5696712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WebGIS próprio: camadas OGC (WMS/WFS) publicadas via GeoServer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30368" y="6062472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0" y="5980176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Dashboards interativos em R Shiny e painel administrativo completo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https://56.125.163.194/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61327" y="635508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Sistemas Maiores     03/21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A6D9"/>
                </a:solidFill>
                <a:latin typeface="Consolas"/>
              </a:rPr>
              <a:t>APLICAÇÃO 01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1488" y="457200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SISTEMAS MAIORES · DETALHAMENTO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56087" y="411480"/>
            <a:ext cx="699516" cy="237744"/>
          </a:xfrm>
          <a:prstGeom prst="roundRect">
            <a:avLst>
              <a:gd name="adj" fmla="val 15000"/>
            </a:avLst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0A2A16"/>
                </a:solidFill>
                <a:latin typeface="Consolas"/>
              </a:rPr>
              <a:t>NO 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F1F6"/>
                </a:solidFill>
                <a:latin typeface="Segoe UI Semibold"/>
              </a:rPr>
              <a:t>SIGMA-PLI · por dentro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COMO FUNCIONA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19656"/>
            <a:ext cx="448056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066544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84248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FastAPI serve a API e as páginas Jinja2; o frontend é HTML/CSS/JS modular, sem framework SPA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532888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50592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Autenticação por JWT somada a sessões; cadastro PF/PJ com verificação de e-mail via SendGrid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999232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16936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PostgreSQL 17 com PostGIS guarda cadastros, metadados e geometrias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465576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83280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Memgraph, por protocolo Bolt, mantém o grafo de conhecimento e os algoritmos de navegação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31920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49624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GeoServer publica as camadas em padrões OGC (WMS/WFS/WCS) consumidas pelo WebGIS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398264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15968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Arquivos do dicionário de dados vão para o Cloudflare R2, compatível com S3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0408" y="1600200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DADOS E FONTES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50408" y="1819656"/>
            <a:ext cx="374903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50408" y="2066544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6440" y="1984248"/>
            <a:ext cx="3493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Metadados e arquivos enviados pelos próprios usuários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50408" y="2532888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06440" y="2450592"/>
            <a:ext cx="3493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Catálogo do dicionário de dados do PLI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50408" y="2816352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06440" y="2734056"/>
            <a:ext cx="3493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Camadas geoespaciais publicadas no GeoServer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50408" y="3099816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06440" y="3017520"/>
            <a:ext cx="3493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Cadastros de pessoas físicas e jurídicas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50408" y="3529584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INTEGRAÇÕES E PUBLICAÇÃO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50408" y="3749040"/>
            <a:ext cx="374903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50408" y="3995928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06440" y="3913632"/>
            <a:ext cx="3493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Fornece autenticação e cadastros ao SICARD (somente leitura)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50408" y="4462272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06440" y="4379976"/>
            <a:ext cx="3493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GeoServer, Memgraph, Cloudflare R2 e R Shiny Server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50408" y="4928616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06440" y="4846320"/>
            <a:ext cx="3493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Nginx como proxy reverso, tudo em Docker Compose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10927" y="1600200"/>
            <a:ext cx="182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NÚMEROS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10927" y="1819656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10927" y="1984248"/>
            <a:ext cx="182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AA6D9"/>
                </a:solidFill>
                <a:latin typeface="Segoe UI Semibold"/>
              </a:rPr>
              <a:t>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10927" y="2258568"/>
            <a:ext cx="182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D8296"/>
                </a:solidFill>
                <a:latin typeface="Consolas"/>
              </a:rPr>
              <a:t>MÓDULOS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10927" y="2514600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10927" y="2679192"/>
            <a:ext cx="182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AA6D9"/>
                </a:solidFill>
                <a:latin typeface="Segoe UI Semibold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10927" y="2953512"/>
            <a:ext cx="182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D8296"/>
                </a:solidFill>
                <a:latin typeface="Consolas"/>
              </a:rPr>
              <a:t>ATIVOS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10927" y="3209544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10927" y="3374136"/>
            <a:ext cx="182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AA6D9"/>
                </a:solidFill>
                <a:latin typeface="Segoe UI Semibold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10927" y="3648456"/>
            <a:ext cx="182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D8296"/>
                </a:solidFill>
                <a:latin typeface="Consolas"/>
              </a:rPr>
              <a:t>PARCIAL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10927" y="3904488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10927" y="4215384"/>
            <a:ext cx="182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SITUAÇÃO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710927" y="4434840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10927" y="4599432"/>
            <a:ext cx="1822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8FB0C2"/>
                </a:solidFill>
                <a:latin typeface="Segoe UI"/>
              </a:rPr>
              <a:t>Dez dos onze módulos estão ativos em produção. Apenas o M05 (Calendário) segue parcial. É a aplicação mais madura do portfólio e a única de que outra aplicação depende.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635508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https://56.125.163.194/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61327" y="635508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FastAPI · Python 3.12  ·  PostgreSQL 17 + PostGIS  ·  Memgraph  ·  GeoServer     04/21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A6D9"/>
                </a:solidFill>
                <a:latin typeface="Consolas"/>
              </a:rPr>
              <a:t>APLICAÇÃO 02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1488" y="457200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SISTEMAS MAIORES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56087" y="411480"/>
            <a:ext cx="699516" cy="237744"/>
          </a:xfrm>
          <a:prstGeom prst="roundRect">
            <a:avLst>
              <a:gd name="adj" fmla="val 15000"/>
            </a:avLst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0A2A16"/>
                </a:solidFill>
                <a:latin typeface="Consolas"/>
              </a:rPr>
              <a:t>NO 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4160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>
                <a:solidFill>
                  <a:srgbClr val="E8F1F6"/>
                </a:solidFill>
                <a:latin typeface="Segoe UI Semibold"/>
              </a:rPr>
              <a:t>SICARD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19072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FB0C2"/>
                </a:solidFill>
                <a:latin typeface="Segoe UI"/>
              </a:rPr>
              <a:t>Sistema Inteligente de Cadastro e Ranking de Demandas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41605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E8F1F6"/>
                </a:solidFill>
                <a:latin typeface="Segoe UI"/>
              </a:rPr>
              <a:t>Cadastra, analisa, hierarquiza e acompanha planos, programas e projetos. Combina análise multicritério AHP, processamento geoespacial e trilha de auditoria para transformar demandas soltas em uma carteira priorizada.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315968"/>
            <a:ext cx="38100" cy="347472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4352544"/>
            <a:ext cx="4160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AA6D9"/>
                </a:solidFill>
                <a:latin typeface="Segoe UI Semibold"/>
              </a:rPr>
              <a:t>Apoio à decisão sobre a carteira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956048"/>
            <a:ext cx="416052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5138928"/>
            <a:ext cx="1484968" cy="237744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>
                <a:solidFill>
                  <a:srgbClr val="8FB0C2"/>
                </a:solidFill>
                <a:latin typeface="Consolas"/>
              </a:rPr>
              <a:t>FastAPI · Python 3.11+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25632" y="5138928"/>
            <a:ext cx="1768428" cy="237744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>
                <a:solidFill>
                  <a:srgbClr val="8FB0C2"/>
                </a:solidFill>
                <a:latin typeface="Consolas"/>
              </a:rPr>
              <a:t>PostgreSQL 17 + PostGIS 3.5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449824"/>
            <a:ext cx="861356" cy="237744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>
                <a:solidFill>
                  <a:srgbClr val="8FB0C2"/>
                </a:solidFill>
                <a:latin typeface="Consolas"/>
              </a:rPr>
              <a:t>HTML/CSS/JS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2020" y="5449824"/>
            <a:ext cx="1144816" cy="237744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>
                <a:solidFill>
                  <a:srgbClr val="8FB0C2"/>
                </a:solidFill>
                <a:latin typeface="Consolas"/>
              </a:rPr>
              <a:t>API do SIGMA-PLI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30368" y="1060704"/>
            <a:ext cx="6302959" cy="237744"/>
          </a:xfrm>
          <a:prstGeom prst="rect">
            <a:avLst/>
          </a:prstGeom>
          <a:solidFill>
            <a:srgbClr val="103246"/>
          </a:solidFill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0" tIns="0" bIns="0"/>
          <a:lstStyle/>
          <a:p>
            <a:pPr algn="ctr"/>
            <a:r>
              <a:rPr sz="800">
                <a:solidFill>
                  <a:srgbClr val="5D8296"/>
                </a:solidFill>
                <a:latin typeface="Consolas"/>
              </a:rPr>
              <a:t>   https://56.125.163.194/sicard/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21808" y="1115568"/>
            <a:ext cx="73152" cy="73152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49824" y="1115568"/>
            <a:ext cx="73152" cy="73152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77840" y="1115568"/>
            <a:ext cx="73152" cy="73152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ic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1298448"/>
            <a:ext cx="6302959" cy="283464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230368" y="1298448"/>
            <a:ext cx="6302959" cy="2834640"/>
          </a:xfrm>
          <a:prstGeom prst="rect">
            <a:avLst/>
          </a:prstGeom>
          <a:noFill/>
          <a:ln w="9525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30368" y="4206240"/>
            <a:ext cx="6302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Portal público do SICARD · captura ao vivo, 31/ago/2026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4572000"/>
            <a:ext cx="63029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O QUE ELA ENTREGA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0368" y="4928616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0" y="4846320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Hierarquização multicritério por AHP, com pesos auditáveis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30368" y="5212080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5129784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Triagem socioambiental e favorabilidade territorial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30368" y="5495544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0" y="5413248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Bancadas espaciais e painéis de acompanhamento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30368" y="5779008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0" y="5696712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Login e cadastro de pessoas e instituições consumidos do SIGMA-PLI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30368" y="6062472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0" y="5980176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Trilha de auditoria de ponta a ponta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https://56.125.163.194/sicard/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1327" y="635508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Sistemas Maiores     05/21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A6D9"/>
                </a:solidFill>
                <a:latin typeface="Consolas"/>
              </a:rPr>
              <a:t>APLICAÇÃO 02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1488" y="457200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SISTEMAS MAIORES · DETALHAMENTO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56087" y="411480"/>
            <a:ext cx="699516" cy="237744"/>
          </a:xfrm>
          <a:prstGeom prst="roundRect">
            <a:avLst>
              <a:gd name="adj" fmla="val 15000"/>
            </a:avLst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0A2A16"/>
                </a:solidFill>
                <a:latin typeface="Consolas"/>
              </a:rPr>
              <a:t>NO 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F1F6"/>
                </a:solidFill>
                <a:latin typeface="Segoe UI Semibold"/>
              </a:rPr>
              <a:t>SICARD · por dentro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COMO FUNCIONA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19656"/>
            <a:ext cx="448056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066544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84248"/>
            <a:ext cx="4224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Cada demanda — plano, programa ou projeto — vive em uma única linha do esquema demandas e avança no ciclo de vida sem cópias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715768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33472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O status percorre três fases: cadastro_analise, hierarquizacao e execucao, com a matriz de transições guardada no banco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182112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99816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O AHP cobre critérios, premissas, matriz de comparação pareada, cálculo de pesos, razão de consistência e homologação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648456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66160"/>
            <a:ext cx="4224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Ambientes colaborativos permitem convidar avaliadores com prazo e token público; o cálculo do servidor é a fonte da verdade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297680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15384"/>
            <a:ext cx="4224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A hierarquização é uma rodada persistida em JSONB: Fase 1 elegibilidade e interseções territoriais, Fase 2 favorabilidade, Fase 3 ajuste fino, e a síntese gera o ranking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0408" y="1600200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DADOS E FONTES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50408" y="1819656"/>
            <a:ext cx="374903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50408" y="2066544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1984248"/>
            <a:ext cx="3493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PostgreSQL 17 + PostGIS 3.5 como fonte definitiva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50408" y="2350008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6440" y="2267712"/>
            <a:ext cx="3493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SIGMA-PLI externo, consultado apenas para leitura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50408" y="2633472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06440" y="2551176"/>
            <a:ext cx="3493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Catálogo territorial e conteúdo geoespacial próprios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50408" y="3099816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06440" y="3017520"/>
            <a:ext cx="3493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Trilha de auditoria de todas as decisões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50408" y="3529584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INTEGRAÇÕES E PUBLICAÇÃO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50408" y="3749040"/>
            <a:ext cx="374903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50408" y="3995928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06440" y="3913632"/>
            <a:ext cx="3493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Login, pessoas e instituições vêm do SIGMA-PLI; o SICARD nunca grava no banco dele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50408" y="4462272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06440" y="4379976"/>
            <a:ext cx="3493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API sob o prefixo /api; páginas públicas em /public/ e operacionais em /restrict/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50408" y="4928616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06440" y="4846320"/>
            <a:ext cx="3493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URLs antigas respondem 308 preservando a query string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10927" y="1600200"/>
            <a:ext cx="182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NÚMEROS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10927" y="1819656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10927" y="1984248"/>
            <a:ext cx="182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AA6D9"/>
                </a:solidFill>
                <a:latin typeface="Segoe UI Semibold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10927" y="2258568"/>
            <a:ext cx="182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D8296"/>
                </a:solidFill>
                <a:latin typeface="Consolas"/>
              </a:rPr>
              <a:t>FASES DE STATUS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10927" y="2514600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10927" y="2679192"/>
            <a:ext cx="182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AA6D9"/>
                </a:solidFill>
                <a:latin typeface="Segoe UI Semibold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10927" y="2953512"/>
            <a:ext cx="182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D8296"/>
                </a:solidFill>
                <a:latin typeface="Consolas"/>
              </a:rPr>
              <a:t>FASES + SÍNTESE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10927" y="3209544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10927" y="3374136"/>
            <a:ext cx="182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AA6D9"/>
                </a:solidFill>
                <a:latin typeface="Segoe UI Semibold"/>
              </a:rPr>
              <a:t>AHP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10927" y="3648456"/>
            <a:ext cx="182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D8296"/>
                </a:solidFill>
                <a:latin typeface="Consolas"/>
              </a:rPr>
              <a:t>MÉTODO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710927" y="3904488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10927" y="4215384"/>
            <a:ext cx="182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SITUAÇÃO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10927" y="4434840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10927" y="4599432"/>
            <a:ext cx="1822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8FB0C2"/>
                </a:solidFill>
                <a:latin typeface="Segoe UI"/>
              </a:rPr>
              <a:t>Inventário de implementação de 19 de julho de 2026: cadastro, análise, aprovação, configuração AHP, comparação colaborativa e hierarquização estão implementados e em uso.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" y="635508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https://56.125.163.194/sicard/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61327" y="635508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FastAPI · Python 3.11+  ·  PostgreSQL 17 + PostGIS 3.5  ·  HTML/CSS/JS  ·  API do SIGMA-PLI     06/21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A6D9"/>
                </a:solidFill>
                <a:latin typeface="Consolas"/>
              </a:rPr>
              <a:t>APLICAÇÃO 03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1488" y="457200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SISTEMAS MAIORES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56087" y="411480"/>
            <a:ext cx="699516" cy="237744"/>
          </a:xfrm>
          <a:prstGeom prst="roundRect">
            <a:avLst>
              <a:gd name="adj" fmla="val 15000"/>
            </a:avLst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0A2A16"/>
                </a:solidFill>
                <a:latin typeface="Consolas"/>
              </a:rPr>
              <a:t>NO 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4160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>
                <a:solidFill>
                  <a:srgbClr val="E8F1F6"/>
                </a:solidFill>
                <a:latin typeface="Segoe UI Semibold"/>
              </a:rPr>
              <a:t>PLI Smart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19072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FB0C2"/>
                </a:solidFill>
                <a:latin typeface="Segoe UI"/>
              </a:rPr>
              <a:t>Roteirizador com resiliência climática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41605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E8F1F6"/>
                </a:solidFill>
                <a:latin typeface="Segoe UI"/>
              </a:rPr>
              <a:t>Calcula rotas reais sobre a malha do PLI/SP 2050, sobrepõe os alertas em tempo real do HazardTrack e do PLI Reporta e recalcula o trajeto automaticamente, desviando das áreas afetadas.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315968"/>
            <a:ext cx="38100" cy="347472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4352544"/>
            <a:ext cx="4160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AA6D9"/>
                </a:solidFill>
                <a:latin typeface="Segoe UI Semibold"/>
              </a:rPr>
              <a:t>Onde o alerta vira decisão operacional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956048"/>
            <a:ext cx="416052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5138928"/>
            <a:ext cx="521204" cy="237744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>
                <a:solidFill>
                  <a:srgbClr val="8FB0C2"/>
                </a:solidFill>
                <a:latin typeface="Consolas"/>
              </a:rPr>
              <a:t>Flask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61868" y="5138928"/>
            <a:ext cx="634588" cy="237744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>
                <a:solidFill>
                  <a:srgbClr val="8FB0C2"/>
                </a:solidFill>
                <a:latin typeface="Consolas"/>
              </a:rPr>
              <a:t>Leaflet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78752" y="5138928"/>
            <a:ext cx="1371584" cy="237744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>
                <a:solidFill>
                  <a:srgbClr val="8FB0C2"/>
                </a:solidFill>
                <a:latin typeface="Consolas"/>
              </a:rPr>
              <a:t>OSRM · OpenStreetMap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32632" y="5138928"/>
            <a:ext cx="1258200" cy="237744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>
                <a:solidFill>
                  <a:srgbClr val="8FB0C2"/>
                </a:solidFill>
                <a:latin typeface="Consolas"/>
              </a:rPr>
              <a:t>Nominatim · ViaCEP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30368" y="1060704"/>
            <a:ext cx="6302959" cy="237744"/>
          </a:xfrm>
          <a:prstGeom prst="rect">
            <a:avLst/>
          </a:prstGeom>
          <a:solidFill>
            <a:srgbClr val="103246"/>
          </a:solidFill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0" tIns="0" bIns="0"/>
          <a:lstStyle/>
          <a:p>
            <a:pPr algn="ctr"/>
            <a:r>
              <a:rPr sz="800">
                <a:solidFill>
                  <a:srgbClr val="5D8296"/>
                </a:solidFill>
                <a:latin typeface="Consolas"/>
              </a:rPr>
              <a:t>   https://56.125.163.194/smart-router/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21808" y="1115568"/>
            <a:ext cx="73152" cy="73152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49824" y="1115568"/>
            <a:ext cx="73152" cy="73152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77840" y="1115568"/>
            <a:ext cx="73152" cy="73152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martrou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1298448"/>
            <a:ext cx="6302959" cy="283464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230368" y="1298448"/>
            <a:ext cx="6302959" cy="2834640"/>
          </a:xfrm>
          <a:prstGeom prst="rect">
            <a:avLst/>
          </a:prstGeom>
          <a:noFill/>
          <a:ln w="9525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30368" y="4206240"/>
            <a:ext cx="6302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Malha e camadas de risco · captura ao vivo, 31/ago/2026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4572000"/>
            <a:ext cx="63029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O QUE ELA ENTREGA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0368" y="4928616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0" y="4846320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Origem e destino por coordenada, busca textual ou clique no mapa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30368" y="5212080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5129784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Geocoding automático: CEP via ViaCEP, endereço via Nominatim/OSM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30368" y="5495544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0" y="5413248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Roteamento OSRM com waypoints intermediários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30368" y="5779008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0" y="5696712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Camadas ao vivo de risco (HazardTrack) e de incidentes (PLI Reporta)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30368" y="6062472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0" y="5980176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Smart route: rota alternativa com buffer de segurança de 500 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https://56.125.163.194/smart-router/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1327" y="635508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Sistemas Maiores     07/21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A6D9"/>
                </a:solidFill>
                <a:latin typeface="Consolas"/>
              </a:rPr>
              <a:t>APLICAÇÃO 03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1488" y="457200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SISTEMAS MAIORES · DETALHAMENTO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56087" y="411480"/>
            <a:ext cx="699516" cy="237744"/>
          </a:xfrm>
          <a:prstGeom prst="roundRect">
            <a:avLst>
              <a:gd name="adj" fmla="val 15000"/>
            </a:avLst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0A2A16"/>
                </a:solidFill>
                <a:latin typeface="Consolas"/>
              </a:rPr>
              <a:t>NO 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F1F6"/>
                </a:solidFill>
                <a:latin typeface="Segoe UI Semibold"/>
              </a:rPr>
              <a:t>PLI Smart Router · por dentro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COMO FUNCIONA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19656"/>
            <a:ext cx="448056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066544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84248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Origem e destino podem ser dados por coordenada, busca textual ou clique no mapa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532888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50592"/>
            <a:ext cx="4224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O geocoding detecta o tipo sozinho: CEP vai para o ViaCEP, endereço e cidade vão para o Nominatim/OSM, com autocomplete a cada 300 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182112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99816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O traçado sai do OSRM sobre a base OpenStreetMap, aceitando waypoints intermediários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648456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66160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Um catálogo dinâmico de camadas puxa risco do HazardTrack e incidentes do PLI Reporta em tempo real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114800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32504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Com camadas ativas, o smart route calcula automaticamente uma alternativa desviando dos obstáculos, com buffer de 500 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0408" y="1600200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DADOS E FONTES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50408" y="1819656"/>
            <a:ext cx="374903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50408" y="2066544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1984248"/>
            <a:ext cx="3493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OpenStreetMap e OSRM para a malha e o roteamento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50408" y="2350008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6440" y="2267712"/>
            <a:ext cx="3493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Nominatim e ViaCEP para geocodificação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50408" y="2633472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06440" y="2551176"/>
            <a:ext cx="3493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PLI-HazardTrack: movimento de massa, inundação e risco de fogo por trecho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50408" y="3099816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06440" y="3017520"/>
            <a:ext cx="3493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PLI Reporta: bloqueios, alagamentos, lentidão, acidentes e obras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50408" y="3712464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INTEGRAÇÕES E PUBLICAÇÃO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50408" y="3931920"/>
            <a:ext cx="374903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50408" y="4178808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06440" y="4096512"/>
            <a:ext cx="3493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Consome os dois serviços de alerta do próprio ecossistema PLI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50408" y="4645152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06440" y="4562856"/>
            <a:ext cx="3493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Endereços dos serviços configuráveis por variável de ambiente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50408" y="5111496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06440" y="5029200"/>
            <a:ext cx="3493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Publicável em qualquer host com gunicorn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10927" y="1600200"/>
            <a:ext cx="182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NÚMEROS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10927" y="1819656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10927" y="1984248"/>
            <a:ext cx="182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AA6D9"/>
                </a:solidFill>
                <a:latin typeface="Segoe UI Semibold"/>
              </a:rPr>
              <a:t>v0.4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10927" y="2258568"/>
            <a:ext cx="182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D8296"/>
                </a:solidFill>
                <a:latin typeface="Consolas"/>
              </a:rPr>
              <a:t>VERSÃO ATUAL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10927" y="2514600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10927" y="2679192"/>
            <a:ext cx="182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AA6D9"/>
                </a:solidFill>
                <a:latin typeface="Segoe UI Semibold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10927" y="2953512"/>
            <a:ext cx="182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D8296"/>
                </a:solidFill>
                <a:latin typeface="Consolas"/>
              </a:rPr>
              <a:t>MODOS DE ENTRADA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10927" y="3209544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10927" y="3374136"/>
            <a:ext cx="182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AA6D9"/>
                </a:solidFill>
                <a:latin typeface="Segoe UI Semibold"/>
              </a:rPr>
              <a:t>500 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10927" y="3648456"/>
            <a:ext cx="182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D8296"/>
                </a:solidFill>
                <a:latin typeface="Consolas"/>
              </a:rPr>
              <a:t>BUFFER DE DESVIO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710927" y="3904488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10927" y="4215384"/>
            <a:ext cx="182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SITUAÇÃO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10927" y="4434840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10927" y="4599432"/>
            <a:ext cx="1822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8FB0C2"/>
                </a:solidFill>
                <a:latin typeface="Segoe UI"/>
              </a:rPr>
              <a:t>A versão Streamlit (v0.1) foi descontinuada. O backend Flask em app_flask.py é a única implementação suportada.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" y="635508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https://56.125.163.194/smart-router/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61327" y="635508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Flask  ·  Leaflet  ·  OSRM · OpenStreetMap  ·  Nominatim · ViaCEP     08/21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A6D9"/>
                </a:solidFill>
                <a:latin typeface="Consolas"/>
              </a:rPr>
              <a:t>APLICAÇÃO 04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1488" y="457200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SISTEMAS MAIORES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56087" y="411480"/>
            <a:ext cx="699516" cy="237744"/>
          </a:xfrm>
          <a:prstGeom prst="roundRect">
            <a:avLst>
              <a:gd name="adj" fmla="val 15000"/>
            </a:avLst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0A2A16"/>
                </a:solidFill>
                <a:latin typeface="Consolas"/>
              </a:rPr>
              <a:t>NO 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4160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>
                <a:solidFill>
                  <a:srgbClr val="E8F1F6"/>
                </a:solidFill>
                <a:latin typeface="Segoe UI Semibold"/>
              </a:rPr>
              <a:t>PLI Reporta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19072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FB0C2"/>
                </a:solidFill>
                <a:latin typeface="Segoe UI"/>
              </a:rPr>
              <a:t>PWA colaborativa de reportes viários georreferenciados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41605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E8F1F6"/>
                </a:solidFill>
                <a:latin typeface="Segoe UI"/>
              </a:rPr>
              <a:t>Aplicativo mobile-first em que o cidadão reporta ocorrências na via. Os relatos passam por um pipeline de veracidade e relevância e só então alimentam os serviços de roteamento e alerta como incidentes verificados.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315968"/>
            <a:ext cx="38100" cy="347472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4352544"/>
            <a:ext cx="4160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AA6D9"/>
                </a:solidFill>
                <a:latin typeface="Segoe UI Semibold"/>
              </a:rPr>
              <a:t>A camada de incidentes verificados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956048"/>
            <a:ext cx="416052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5138928"/>
            <a:ext cx="1201508" cy="237744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>
                <a:solidFill>
                  <a:srgbClr val="8FB0C2"/>
                </a:solidFill>
                <a:latin typeface="Consolas"/>
              </a:rPr>
              <a:t>FastAPI · Uvicorn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42172" y="5138928"/>
            <a:ext cx="634588" cy="237744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>
                <a:solidFill>
                  <a:srgbClr val="8FB0C2"/>
                </a:solidFill>
                <a:latin typeface="Consolas"/>
              </a:rPr>
              <a:t>PostGIS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9056" y="5138928"/>
            <a:ext cx="1144816" cy="237744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>
                <a:solidFill>
                  <a:srgbClr val="8FB0C2"/>
                </a:solidFill>
                <a:latin typeface="Consolas"/>
              </a:rPr>
              <a:t>PWA mobile-first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168" y="5138928"/>
            <a:ext cx="634588" cy="237744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>
                <a:solidFill>
                  <a:srgbClr val="8FB0C2"/>
                </a:solidFill>
                <a:latin typeface="Consolas"/>
              </a:rPr>
              <a:t>GeoJSON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30368" y="1060704"/>
            <a:ext cx="6302959" cy="237744"/>
          </a:xfrm>
          <a:prstGeom prst="rect">
            <a:avLst/>
          </a:prstGeom>
          <a:solidFill>
            <a:srgbClr val="103246"/>
          </a:solidFill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0" tIns="0" bIns="0"/>
          <a:lstStyle/>
          <a:p>
            <a:pPr algn="ctr"/>
            <a:r>
              <a:rPr sz="800">
                <a:solidFill>
                  <a:srgbClr val="5D8296"/>
                </a:solidFill>
                <a:latin typeface="Consolas"/>
              </a:rPr>
              <a:t>   https://56.125.163.194/pli-reporta/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21808" y="1115568"/>
            <a:ext cx="73152" cy="73152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49824" y="1115568"/>
            <a:ext cx="73152" cy="73152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77840" y="1115568"/>
            <a:ext cx="73152" cy="73152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repor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1298448"/>
            <a:ext cx="6302959" cy="283464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230368" y="1298448"/>
            <a:ext cx="6302959" cy="2834640"/>
          </a:xfrm>
          <a:prstGeom prst="rect">
            <a:avLst/>
          </a:prstGeom>
          <a:noFill/>
          <a:ln w="9525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30368" y="4206240"/>
            <a:ext cx="6302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Tela de reporte do cidadão · captura ao vivo, 31/ago/2026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4572000"/>
            <a:ext cx="63029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O QUE ELA ENTREGA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0368" y="4928616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0" y="4846320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Reportes de buraco, alagamento, acidente, bloqueio, obra e sinalização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30368" y="5212080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5129784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Pipeline de veracidade e relevância antes da publicação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30368" y="5495544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0" y="5413248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Mapa público e fluxo de moderação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30368" y="5779008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0" y="5696712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Endpoint GeoJSON estável para integração com o roteador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30368" y="6062472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0" y="5980176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Instalável como PWA, pensado para uso em campo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https://56.125.163.194/pli-reporta/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1327" y="635508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Sistemas Maiores     09/21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A6D9"/>
                </a:solidFill>
                <a:latin typeface="Consolas"/>
              </a:rPr>
              <a:t>APLICAÇÃO 04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1488" y="457200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SISTEMAS MAIORES · DETALHAMENTO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56087" y="411480"/>
            <a:ext cx="699516" cy="237744"/>
          </a:xfrm>
          <a:prstGeom prst="roundRect">
            <a:avLst>
              <a:gd name="adj" fmla="val 15000"/>
            </a:avLst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0A2A16"/>
                </a:solidFill>
                <a:latin typeface="Consolas"/>
              </a:rPr>
              <a:t>NO 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F1F6"/>
                </a:solidFill>
                <a:latin typeface="Segoe UI Semibold"/>
              </a:rPr>
              <a:t>PLI Reporta · por dentro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COMO FUNCIONA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19656"/>
            <a:ext cx="448056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066544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84248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A unidade de análise é o incidente geoespacial verificável, não o formulário preenchido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532888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50592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Cada incidente percorre o ciclo submetido → triado → validado → publicado → expirado/resolvido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999232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16936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Dois scores independentes qualificam o relato: veracidade (é real?) e relevância (importa para a rota?)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465576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83280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A veracidade é média ponderada de sinais, V = Σ(wᵢ·sᵢ)/Σwᵢ, e a combinação com a relevância define a prioridade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31920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49624"/>
            <a:ext cx="4224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Toda decisão automática registra os sinais que a produziram, e o cidadão pode saber por que o reporte foi aceito ou descartado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0408" y="1600200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DADOS E FONTES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50408" y="1819656"/>
            <a:ext cx="374903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50408" y="2066544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1984248"/>
            <a:ext cx="3493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Relatos do cidadão, georreferenciados e com mídia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50408" y="2350008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6440" y="2267712"/>
            <a:ext cx="3493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Sinais de reconfirmação por outros usuários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50408" y="2633472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06440" y="2551176"/>
            <a:ext cx="3493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Camadas PostGIS de incidentes publicados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50408" y="3063240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INTEGRAÇÕES E PUBLICAÇÃO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50408" y="3282696"/>
            <a:ext cx="374903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550408" y="3529584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06440" y="3447288"/>
            <a:ext cx="3493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Expõe um endpoint GeoJSON estável para o roteador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50408" y="3813048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06440" y="3730752"/>
            <a:ext cx="3493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Alimenta o PLI Smart Router como camada de incidentes verificados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50408" y="4279392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06440" y="4197096"/>
            <a:ext cx="3493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Aplicação independente: roda em qualquer host com Python 3.10+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0927" y="1600200"/>
            <a:ext cx="182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NÚMEROS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10927" y="1819656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10927" y="1984248"/>
            <a:ext cx="182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AA6D9"/>
                </a:solidFill>
                <a:latin typeface="Segoe UI Semibold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10927" y="2258568"/>
            <a:ext cx="182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D8296"/>
                </a:solidFill>
                <a:latin typeface="Consolas"/>
              </a:rPr>
              <a:t>ESTADOS NO CICLO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10927" y="2514600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10927" y="2679192"/>
            <a:ext cx="182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AA6D9"/>
                </a:solidFill>
                <a:latin typeface="Segoe UI Semibold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10927" y="2953512"/>
            <a:ext cx="182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D8296"/>
                </a:solidFill>
                <a:latin typeface="Consolas"/>
              </a:rPr>
              <a:t>SCORES ORTOGONAIS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10927" y="3209544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10927" y="3374136"/>
            <a:ext cx="182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AA6D9"/>
                </a:solidFill>
                <a:latin typeface="Segoe UI Semibold"/>
              </a:rPr>
              <a:t>PWA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10927" y="3648456"/>
            <a:ext cx="182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D8296"/>
                </a:solidFill>
                <a:latin typeface="Consolas"/>
              </a:rPr>
              <a:t>INSTALÁVEL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10927" y="3904488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10927" y="4215384"/>
            <a:ext cx="182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SITUAÇÃO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710927" y="4434840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10927" y="4599432"/>
            <a:ext cx="1822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8FB0C2"/>
                </a:solidFill>
                <a:latin typeface="Segoe UI"/>
              </a:rPr>
              <a:t>Separar veracidade de relevância é decisão deliberada: um buraco pequeno em rua sem volume é verdadeiro mas irrelevante; um bloqueio em corredor estratégico é relevante mesmo com confiança moderada.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635508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https://56.125.163.194/pli-reporta/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61327" y="635508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FastAPI · Uvicorn  ·  PostGIS  ·  PWA mobile-first  ·  GeoJSON     10/21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A6D9"/>
                </a:solidFill>
                <a:latin typeface="Consolas"/>
              </a:rPr>
              <a:t>APLICAÇÃO 05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1488" y="457200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SISTEMAS MAIORES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56087" y="411480"/>
            <a:ext cx="699516" cy="237744"/>
          </a:xfrm>
          <a:prstGeom prst="roundRect">
            <a:avLst>
              <a:gd name="adj" fmla="val 15000"/>
            </a:avLst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0A2A16"/>
                </a:solidFill>
                <a:latin typeface="Consolas"/>
              </a:rPr>
              <a:t>NO 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4160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>
                <a:solidFill>
                  <a:srgbClr val="E8F1F6"/>
                </a:solidFill>
                <a:latin typeface="Segoe UI Semibold"/>
              </a:rPr>
              <a:t>PLI-HazardTrack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19072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FB0C2"/>
                </a:solidFill>
                <a:latin typeface="Segoe UI"/>
              </a:rPr>
              <a:t>SAMAEG-PLI · Monitoramento, Análise e Alerta Geodinâmico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41605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E8F1F6"/>
                </a:solidFill>
                <a:latin typeface="Segoe UI"/>
              </a:rPr>
              <a:t>Monitora chuva em streaming e traduz o dado bruto em risco por trecho rodoviário do DER-SP. Implementa o conceito do Produto 06 do relatório REGEA-NIPPON 2021, com o modelo oficial de Risco Dinâmico.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315968"/>
            <a:ext cx="38100" cy="347472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4352544"/>
            <a:ext cx="4160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AA6D9"/>
                </a:solidFill>
                <a:latin typeface="Segoe UI Semibold"/>
              </a:rPr>
              <a:t>O sensor climático da malha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956048"/>
            <a:ext cx="416052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5138928"/>
            <a:ext cx="577896" cy="237744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>
                <a:solidFill>
                  <a:srgbClr val="8FB0C2"/>
                </a:solidFill>
                <a:latin typeface="Consolas"/>
              </a:rPr>
              <a:t>Python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18560" y="5138928"/>
            <a:ext cx="1144816" cy="237744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>
                <a:solidFill>
                  <a:srgbClr val="8FB0C2"/>
                </a:solidFill>
                <a:latin typeface="Consolas"/>
              </a:rPr>
              <a:t>MERGE/CPTEC/INPE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5672" y="5138928"/>
            <a:ext cx="634588" cy="237744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>
                <a:solidFill>
                  <a:srgbClr val="8FB0C2"/>
                </a:solidFill>
                <a:latin typeface="Consolas"/>
              </a:rPr>
              <a:t>PostGIS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2556" y="5138928"/>
            <a:ext cx="577896" cy="237744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>
                <a:solidFill>
                  <a:srgbClr val="8FB0C2"/>
                </a:solidFill>
                <a:latin typeface="Consolas"/>
              </a:rPr>
              <a:t>Docker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30368" y="1060704"/>
            <a:ext cx="6302959" cy="237744"/>
          </a:xfrm>
          <a:prstGeom prst="rect">
            <a:avLst/>
          </a:prstGeom>
          <a:solidFill>
            <a:srgbClr val="103246"/>
          </a:solidFill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0" tIns="0" bIns="0"/>
          <a:lstStyle/>
          <a:p>
            <a:pPr algn="ctr"/>
            <a:r>
              <a:rPr sz="800">
                <a:solidFill>
                  <a:srgbClr val="5D8296"/>
                </a:solidFill>
                <a:latin typeface="Consolas"/>
              </a:rPr>
              <a:t>   https://56.125.163.194/pli-hazardtrack/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21808" y="1115568"/>
            <a:ext cx="73152" cy="73152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49824" y="1115568"/>
            <a:ext cx="73152" cy="73152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77840" y="1115568"/>
            <a:ext cx="73152" cy="73152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hazardtr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1298448"/>
            <a:ext cx="6302959" cy="283464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230368" y="1298448"/>
            <a:ext cx="6302959" cy="2834640"/>
          </a:xfrm>
          <a:prstGeom prst="rect">
            <a:avLst/>
          </a:prstGeom>
          <a:noFill/>
          <a:ln w="9525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30368" y="4206240"/>
            <a:ext cx="6302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Mapa integrado de riscos climáticos · captura ao vivo, 31/ago/2026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4572000"/>
            <a:ext cx="63029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O QUE ELA ENTREGA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0368" y="4928616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0" y="4846320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Dados reais de chuva MERGE/CPTEC/INPE consumidos em streaming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30368" y="5212080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5129784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Modelo de Risco Dinâmico RD = RA × ICC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30368" y="5495544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0" y="5413248"/>
            <a:ext cx="60469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Quatro regiões climático-geológico-geomorfológicas do litoral norte e da baixada santista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30368" y="5961888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0" y="5879592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Camadas de movimento de massa, inundação e risco de fogo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30368" y="6245352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0" y="6163056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Níveis operacionais compatíveis com o PPDC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https://56.125.163.194/pli-hazardtrack/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1327" y="635508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Sistemas Maiores     11/21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A6D9"/>
                </a:solidFill>
                <a:latin typeface="Consolas"/>
              </a:rPr>
              <a:t>APLICAÇÃO 05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1488" y="457200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SISTEMAS MAIORES · DETALHAMENTO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56087" y="411480"/>
            <a:ext cx="699516" cy="237744"/>
          </a:xfrm>
          <a:prstGeom prst="roundRect">
            <a:avLst>
              <a:gd name="adj" fmla="val 15000"/>
            </a:avLst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0A2A16"/>
                </a:solidFill>
                <a:latin typeface="Consolas"/>
              </a:rPr>
              <a:t>NO 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F1F6"/>
                </a:solidFill>
                <a:latin typeface="Segoe UI Semibold"/>
              </a:rPr>
              <a:t>PLI-HazardTrack · por dentro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COMO FUNCIONA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19656"/>
            <a:ext cx="448056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066544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84248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A cada ciclo, 96 arquivos GRIB2 horários do INPE são baixados em streaming direto para a memória — nada toca o disco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532888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50592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A amostragem usa uma única chamada nativa para todos os pontos, com ThreadPool de 8 workers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999232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16936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O índice de chuva vira CPC = I / (K_região · Ac96h^-0,9), com K próprio de cada região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465576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83280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O ICC é classificado de 0 a 4 em duas vias, geológica e hidrológica, conforme os limiares da região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31920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49624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O Risco Dinâmico sai da matriz oficial RD = RA × ICC, e o RD final é o maior entre a via geológica e a hidrológica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0408" y="1600200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DADOS E FONTES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50408" y="1819656"/>
            <a:ext cx="374903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50408" y="2066544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1984248"/>
            <a:ext cx="3493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Chuva MERGE/CPTEC/INPE — intensidade da última hora, acumulado em 24 h e em 96 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50408" y="2532888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6440" y="2450592"/>
            <a:ext cx="3493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Quatro regiões climático-geológico-geomorfológicas com buffer de 1.000 m do eixo cadastral do DER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50408" y="2999232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06440" y="2916936"/>
            <a:ext cx="3493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Tabelas oficiais do relatório REGEA-NIPPON 2021 (Produto 06)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50408" y="3465576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06440" y="3383280"/>
            <a:ext cx="3493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24 pontos amostrais ao longo da SP-055 e da SP-098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50408" y="3895344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INTEGRAÇÕES E PUBLICAÇÃO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50408" y="4114800"/>
            <a:ext cx="374903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50408" y="4361688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06440" y="4279392"/>
            <a:ext cx="3493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Entrega as camadas de risco por trecho ao PLI Smart Router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50408" y="4828032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06440" y="4745736"/>
            <a:ext cx="3493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Atualização a cada 10 minutos no servidor e a cada 30 segundos no cliente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50408" y="5294376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06440" y="5212080"/>
            <a:ext cx="3493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Se a rede do INPE falhar, o snapshot vai para no_data — não há dado simulado no caminho operacional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10927" y="1600200"/>
            <a:ext cx="182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NÚMEROS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10927" y="1819656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10927" y="1984248"/>
            <a:ext cx="182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AA6D9"/>
                </a:solidFill>
                <a:latin typeface="Segoe UI Semibold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10927" y="2258568"/>
            <a:ext cx="182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D8296"/>
                </a:solidFill>
                <a:latin typeface="Consolas"/>
              </a:rPr>
              <a:t>REGIÕES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10927" y="2514600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10927" y="2679192"/>
            <a:ext cx="182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AA6D9"/>
                </a:solidFill>
                <a:latin typeface="Segoe UI Semibold"/>
              </a:rPr>
              <a:t>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10927" y="2953512"/>
            <a:ext cx="182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D8296"/>
                </a:solidFill>
                <a:latin typeface="Consolas"/>
              </a:rPr>
              <a:t>PONTOS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10927" y="3209544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10927" y="3374136"/>
            <a:ext cx="182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AA6D9"/>
                </a:solidFill>
                <a:latin typeface="Segoe UI Semibold"/>
              </a:rPr>
              <a:t>96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10927" y="3648456"/>
            <a:ext cx="182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D8296"/>
                </a:solidFill>
                <a:latin typeface="Consolas"/>
              </a:rPr>
              <a:t>GRIB2 POR CICLO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710927" y="3904488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10927" y="4069080"/>
            <a:ext cx="182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AA6D9"/>
                </a:solidFill>
                <a:latin typeface="Segoe UI Semibold"/>
              </a:rPr>
              <a:t>10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10927" y="4343400"/>
            <a:ext cx="182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D8296"/>
                </a:solidFill>
                <a:latin typeface="Consolas"/>
              </a:rPr>
              <a:t>ATUALIZAÇÃO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710927" y="4599432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10927" y="4910328"/>
            <a:ext cx="182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SITUAÇÃO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710927" y="5129784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10927" y="5294376"/>
            <a:ext cx="1822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8FB0C2"/>
                </a:solidFill>
                <a:latin typeface="Segoe UI"/>
              </a:rPr>
              <a:t>Validado por backtest do evento de 19/02/2023 em São Sebastião: Juquehy chegou a RD4, Camburi a RD3 e Maresias a RD1. Vinte testes unitários cobrem as equações de risco.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" y="635508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https://56.125.163.194/pli-hazardtrack/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61327" y="635508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Python  ·  MERGE/CPTEC/INPE  ·  PostGIS  ·  Docker     12/21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A6D9"/>
                </a:solidFill>
                <a:latin typeface="Consolas"/>
              </a:rPr>
              <a:t>APLICAÇÃO 06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1488" y="457200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SISTEMAS MAIORES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56087" y="411480"/>
            <a:ext cx="699516" cy="237744"/>
          </a:xfrm>
          <a:prstGeom prst="roundRect">
            <a:avLst>
              <a:gd name="adj" fmla="val 15000"/>
            </a:avLst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0A2A16"/>
                </a:solidFill>
                <a:latin typeface="Consolas"/>
              </a:rPr>
              <a:t>NO 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4160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>
                <a:solidFill>
                  <a:srgbClr val="E8F1F6"/>
                </a:solidFill>
                <a:latin typeface="Segoe UI Semibold"/>
              </a:rPr>
              <a:t>FAD-Stats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19072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FB0C2"/>
                </a:solidFill>
                <a:latin typeface="Segoe UI"/>
              </a:rPr>
              <a:t>Ferramenta de Análise Dinamizada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41605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E8F1F6"/>
                </a:solidFill>
                <a:latin typeface="Segoe UI"/>
              </a:rPr>
              <a:t>Plataforma de análise estatística e espacial de dados oficiais. Reúne produção agropecuária, comércio exterior, mercado de trabalho e logística em uma única bancada de exploração.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315968"/>
            <a:ext cx="38100" cy="347472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4352544"/>
            <a:ext cx="4160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AA6D9"/>
                </a:solidFill>
                <a:latin typeface="Segoe UI Semibold"/>
              </a:rPr>
              <a:t>Leitura socioeconômica do território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956048"/>
            <a:ext cx="416052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5138928"/>
            <a:ext cx="577896" cy="237744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>
                <a:solidFill>
                  <a:srgbClr val="8FB0C2"/>
                </a:solidFill>
                <a:latin typeface="Consolas"/>
              </a:rPr>
              <a:t>Python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18560" y="5138928"/>
            <a:ext cx="974740" cy="237744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>
                <a:solidFill>
                  <a:srgbClr val="8FB0C2"/>
                </a:solidFill>
                <a:latin typeface="Consolas"/>
              </a:rPr>
              <a:t>PostgreSQL 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5596" y="5138928"/>
            <a:ext cx="577896" cy="237744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>
                <a:solidFill>
                  <a:srgbClr val="8FB0C2"/>
                </a:solidFill>
                <a:latin typeface="Consolas"/>
              </a:rPr>
              <a:t>Docker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35788" y="5138928"/>
            <a:ext cx="521204" cy="237744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>
                <a:solidFill>
                  <a:srgbClr val="8FB0C2"/>
                </a:solidFill>
                <a:latin typeface="Consolas"/>
              </a:rPr>
              <a:t>Nginx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30368" y="1060704"/>
            <a:ext cx="6302959" cy="237744"/>
          </a:xfrm>
          <a:prstGeom prst="rect">
            <a:avLst/>
          </a:prstGeom>
          <a:solidFill>
            <a:srgbClr val="103246"/>
          </a:solidFill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0" tIns="0" bIns="0"/>
          <a:lstStyle/>
          <a:p>
            <a:pPr algn="ctr"/>
            <a:r>
              <a:rPr sz="800">
                <a:solidFill>
                  <a:srgbClr val="5D8296"/>
                </a:solidFill>
                <a:latin typeface="Consolas"/>
              </a:rPr>
              <a:t>   https://56.125.163.194/fad-stats/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21808" y="1115568"/>
            <a:ext cx="73152" cy="73152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49824" y="1115568"/>
            <a:ext cx="73152" cy="73152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77840" y="1115568"/>
            <a:ext cx="73152" cy="73152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adsta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1298448"/>
            <a:ext cx="6302959" cy="283464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230368" y="1298448"/>
            <a:ext cx="6302959" cy="2834640"/>
          </a:xfrm>
          <a:prstGeom prst="rect">
            <a:avLst/>
          </a:prstGeom>
          <a:noFill/>
          <a:ln w="9525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30368" y="4206240"/>
            <a:ext cx="6302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Hub de dashboards da FAD-Stats · relatório de atividades, jun/2026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4572000"/>
            <a:ext cx="63029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O QUE ELA ENTREGA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0368" y="4928616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0" y="4846320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Fontes oficiais: IBGE, SECEX, MTE e ANTT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30368" y="5212080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5129784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21 tipos de gráfico e 6 tipos de mapa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30368" y="5495544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0" y="5413248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Recortes municipais e regionais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30368" y="5779008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0" y="5696712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Interface pública com a barra padrão do Governo de São Paulo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https://56.125.163.194/fad-stats/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1327" y="635508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Sistemas Maiores     13/21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A6D9"/>
                </a:solidFill>
                <a:latin typeface="Consolas"/>
              </a:rPr>
              <a:t>APLICAÇÃO 06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1488" y="457200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SISTEMAS MAIORES · DETALHAMENTO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56087" y="411480"/>
            <a:ext cx="699516" cy="237744"/>
          </a:xfrm>
          <a:prstGeom prst="roundRect">
            <a:avLst>
              <a:gd name="adj" fmla="val 15000"/>
            </a:avLst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0A2A16"/>
                </a:solidFill>
                <a:latin typeface="Consolas"/>
              </a:rPr>
              <a:t>NO 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F1F6"/>
                </a:solidFill>
                <a:latin typeface="Segoe UI Semibold"/>
              </a:rPr>
              <a:t>FAD-Stats 2.0 · por dentro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COMO FUNCIONA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19656"/>
            <a:ext cx="448056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066544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84248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Backend FastAPI dividido em routers, services, queries e models, com settings, rate limit e métricas no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532888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50592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Cinco routers atendem análise, catálogo, comércio exterior, análise PLI e health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999232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16936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O frontend é HTML, CSS e JavaScript puros, sem etapa de build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465576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83280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Um catálogo GeoJSON no backend sustenta os recortes espaciais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31920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49624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As consultas são montadas a partir de templates parametrizados por recorte e período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0408" y="1600200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DADOS E FONTES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50408" y="1819656"/>
            <a:ext cx="374903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50408" y="2066544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1984248"/>
            <a:ext cx="3493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IBGE — produção agropecuária e base territorial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50408" y="2350008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6440" y="2267712"/>
            <a:ext cx="3493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SECEX — comércio exterior por município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50408" y="2633472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06440" y="2551176"/>
            <a:ext cx="3493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MTE / RAIS — mercado de trabalho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50408" y="2916936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06440" y="2834640"/>
            <a:ext cx="3493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ANTT — logística e transporte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50408" y="3346704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INTEGRAÇÕES E PUBLICAÇÃO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50408" y="3566160"/>
            <a:ext cx="374903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50408" y="3813048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06440" y="3730752"/>
            <a:ext cx="3493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Publicada sob /fad-stats/ no mesmo Nginx dos demais sistemas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50408" y="4279392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06440" y="4197096"/>
            <a:ext cx="3493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Interface pública com a barra padrão do Governo de São Paulo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50408" y="4745736"/>
            <a:ext cx="128016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06440" y="4663440"/>
            <a:ext cx="3493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Banco PostgreSQL 17 dedicado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10927" y="1600200"/>
            <a:ext cx="182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NÚMEROS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10927" y="1819656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10927" y="1984248"/>
            <a:ext cx="182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AA6D9"/>
                </a:solidFill>
                <a:latin typeface="Segoe UI Semibold"/>
              </a:rPr>
              <a:t>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10927" y="2258568"/>
            <a:ext cx="182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D8296"/>
                </a:solidFill>
                <a:latin typeface="Consolas"/>
              </a:rPr>
              <a:t>TIPOS DE GRÁFICO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10927" y="2514600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10927" y="2679192"/>
            <a:ext cx="182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AA6D9"/>
                </a:solidFill>
                <a:latin typeface="Segoe UI Semibold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10927" y="2953512"/>
            <a:ext cx="182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D8296"/>
                </a:solidFill>
                <a:latin typeface="Consolas"/>
              </a:rPr>
              <a:t>TIPOS DE MAPA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10927" y="3209544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10927" y="3374136"/>
            <a:ext cx="182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AA6D9"/>
                </a:solidFill>
                <a:latin typeface="Segoe UI Semibold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10927" y="3648456"/>
            <a:ext cx="182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D8296"/>
                </a:solidFill>
                <a:latin typeface="Consolas"/>
              </a:rPr>
              <a:t>FONTES OFICIAIS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710927" y="3904488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10927" y="4215384"/>
            <a:ext cx="182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SITUAÇÃO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10927" y="4434840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10927" y="4599432"/>
            <a:ext cx="1822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8FB0C2"/>
                </a:solidFill>
                <a:latin typeface="Segoe UI"/>
              </a:rPr>
              <a:t>Segunda geração da ferramenta, com frontend reescrito em HTML puro para eliminar a dependência de React e a etapa de build.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" y="635508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https://56.125.163.194/fad-stats/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61327" y="635508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Python  ·  PostgreSQL 17  ·  Docker  ·  Nginx     14/21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E0A33A"/>
                </a:solidFill>
                <a:latin typeface="Consolas"/>
              </a:rPr>
              <a:t>APLICAÇÃO 07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1488" y="457200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ANÁLISES EXPLORATÓRIAS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27487" y="411480"/>
            <a:ext cx="932688" cy="237744"/>
          </a:xfrm>
          <a:prstGeom prst="roundRect">
            <a:avLst>
              <a:gd name="adj" fmla="val 15000"/>
            </a:avLst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2A1408"/>
                </a:solidFill>
                <a:latin typeface="Consolas"/>
              </a:rPr>
              <a:t>SUSPENSA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4160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>
                <a:solidFill>
                  <a:srgbClr val="E8F1F6"/>
                </a:solidFill>
                <a:latin typeface="Segoe UI Semibold"/>
              </a:rPr>
              <a:t>Acidentes Infosiga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19072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FB0C2"/>
                </a:solidFill>
                <a:latin typeface="Segoe UI"/>
              </a:rPr>
              <a:t>Análise exploratória da base Infosiga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41605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E8F1F6"/>
                </a:solidFill>
                <a:latin typeface="Segoe UI"/>
              </a:rPr>
              <a:t>Análise exploratória dos acidentes registrados no sistema Infosiga, com filtros por período, tipo de ocorrência e localização.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315968"/>
            <a:ext cx="38100" cy="347472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4352544"/>
            <a:ext cx="4160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A33A"/>
                </a:solidFill>
                <a:latin typeface="Segoe UI Semibold"/>
              </a:rPr>
              <a:t>Diagnóstico de sinistralidade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956048"/>
            <a:ext cx="416052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5138928"/>
            <a:ext cx="577896" cy="237744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>
                <a:solidFill>
                  <a:srgbClr val="8FB0C2"/>
                </a:solidFill>
                <a:latin typeface="Consolas"/>
              </a:rPr>
              <a:t>Python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18560" y="5138928"/>
            <a:ext cx="577896" cy="237744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>
                <a:solidFill>
                  <a:srgbClr val="8FB0C2"/>
                </a:solidFill>
                <a:latin typeface="Consolas"/>
              </a:rPr>
              <a:t>Render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30368" y="1060704"/>
            <a:ext cx="6302959" cy="237744"/>
          </a:xfrm>
          <a:prstGeom prst="rect">
            <a:avLst/>
          </a:prstGeom>
          <a:solidFill>
            <a:srgbClr val="103246"/>
          </a:solidFill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0" tIns="0" bIns="0"/>
          <a:lstStyle/>
          <a:p>
            <a:pPr algn="ctr"/>
            <a:r>
              <a:rPr sz="800">
                <a:solidFill>
                  <a:srgbClr val="5D8296"/>
                </a:solidFill>
                <a:latin typeface="Consolas"/>
              </a:rPr>
              <a:t>   https://acidentes-infosiga.onrender.com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1808" y="1115568"/>
            <a:ext cx="73152" cy="73152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9824" y="1115568"/>
            <a:ext cx="73152" cy="73152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1115568"/>
            <a:ext cx="73152" cy="73152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nfosig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1298448"/>
            <a:ext cx="6302959" cy="283464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230368" y="1298448"/>
            <a:ext cx="6302959" cy="2834640"/>
          </a:xfrm>
          <a:prstGeom prst="rect">
            <a:avLst/>
          </a:prstGeom>
          <a:noFill/>
          <a:ln w="9525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0368" y="4206240"/>
            <a:ext cx="6302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Portal de acidentes rodoviários · relatório de atividades, jun/2026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4572000"/>
            <a:ext cx="63029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O QUE ELA ENTREGA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30368" y="4928616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4846320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Base oficial Infosiga de sinistros de trânsito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0368" y="5212080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0" y="5129784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Filtros por período, tipo e localização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30368" y="5495544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5413248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Visualizações interativas de séries e distribuições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https://acidentes-infosiga.onrender.com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1327" y="635508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Análises Exploratórias     15/21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E0A33A"/>
                </a:solidFill>
                <a:latin typeface="Consolas"/>
              </a:rPr>
              <a:t>APLICAÇÃO 07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1488" y="457200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ANÁLISES EXPLORATÓRIAS · DETALHAMENTO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27487" y="411480"/>
            <a:ext cx="932688" cy="237744"/>
          </a:xfrm>
          <a:prstGeom prst="roundRect">
            <a:avLst>
              <a:gd name="adj" fmla="val 15000"/>
            </a:avLst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2A1408"/>
                </a:solidFill>
                <a:latin typeface="Consolas"/>
              </a:rPr>
              <a:t>SUSPENSA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F1F6"/>
                </a:solidFill>
                <a:latin typeface="Segoe UI Semibold"/>
              </a:rPr>
              <a:t>Acidentes Infosiga · por dentro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COMO FUNCIONA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19656"/>
            <a:ext cx="448056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066544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84248"/>
            <a:ext cx="42245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Pipeline em três etapas executadas em sequência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50008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67712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01_processa_dados.py faz o ETL e consolida os CSVs do InfoSiga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816352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34056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02_analise_geografica.py cruza os sinistros com a malha rodoviária estadual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282696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00400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03_gera_html.py produz os dashboards HTML interativos, publicados como site estático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749040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666744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Os dados brutos não são versionados: entram na pasta dados/ e saem como artefatos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0408" y="1600200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DADOS E FONTES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50408" y="1819656"/>
            <a:ext cx="374903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50408" y="2066544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1984248"/>
            <a:ext cx="3493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CSVs oficiais do InfoSiga-SP: pessoas, sinistros e veículos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50408" y="2532888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6440" y="2450592"/>
            <a:ext cx="3493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Shapefile da Malha Rodoviária Estadual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50408" y="2816352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06440" y="2734056"/>
            <a:ext cx="3493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Base oficial do Detran-SP cruzada com a malha do DER/SP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50408" y="3282696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06440" y="3200400"/>
            <a:ext cx="3493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Série de 2014 a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50408" y="3712464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INTEGRAÇÕES E PUBLICAÇÃO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50408" y="3931920"/>
            <a:ext cx="374903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50408" y="4178808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06440" y="4096512"/>
            <a:ext cx="3493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Publicação estática, sem backend em execução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50408" y="4462272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06440" y="4379976"/>
            <a:ext cx="3493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Dashboards navegáveis por portal, análise geográfica, relatório executivo e guia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0927" y="1600200"/>
            <a:ext cx="182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NÚMEROS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10927" y="1819656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10927" y="1984248"/>
            <a:ext cx="182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0A33A"/>
                </a:solidFill>
                <a:latin typeface="Segoe UI Semibold"/>
              </a:rPr>
              <a:t>1.364.070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10927" y="2258568"/>
            <a:ext cx="182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D8296"/>
                </a:solidFill>
                <a:latin typeface="Consolas"/>
              </a:rPr>
              <a:t>SINISTROS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10927" y="2514600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10927" y="2679192"/>
            <a:ext cx="182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0A33A"/>
                </a:solidFill>
                <a:latin typeface="Segoe UI Semibold"/>
              </a:rPr>
              <a:t>62.029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10927" y="2953512"/>
            <a:ext cx="182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D8296"/>
                </a:solidFill>
                <a:latin typeface="Consolas"/>
              </a:rPr>
              <a:t>ÓBITOS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10927" y="3209544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10927" y="3374136"/>
            <a:ext cx="182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0A33A"/>
                </a:solidFill>
                <a:latin typeface="Segoe UI Semibold"/>
              </a:rPr>
              <a:t>95.166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10927" y="3648456"/>
            <a:ext cx="182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D8296"/>
                </a:solidFill>
                <a:latin typeface="Consolas"/>
              </a:rPr>
              <a:t>FERIDOS GRAVES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10927" y="3904488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10927" y="4069080"/>
            <a:ext cx="182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0A33A"/>
                </a:solidFill>
                <a:latin typeface="Segoe UI Semibold"/>
              </a:rPr>
              <a:t>92,3%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10927" y="4343400"/>
            <a:ext cx="182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D8296"/>
                </a:solidFill>
                <a:latin typeface="Consolas"/>
              </a:rPr>
              <a:t>GEOLOCALIZADOS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710927" y="4599432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10927" y="4910328"/>
            <a:ext cx="182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SITUAÇÃO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710927" y="5129784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10927" y="5294376"/>
            <a:ext cx="1822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8FB0C2"/>
                </a:solidFill>
                <a:latin typeface="Segoe UI"/>
              </a:rPr>
              <a:t>Serviço suspenso no Render. O pipeline continua reproduzível a partir do repositório: basta rodar os três scripts para regerar os dashboards.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" y="635508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https://acidentes-infosiga.onrender.com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61327" y="635508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Python  ·  Render     16/21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E0A33A"/>
                </a:solidFill>
                <a:latin typeface="Consolas"/>
              </a:rPr>
              <a:t>APLICAÇÃO 08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1488" y="457200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ANÁLISES EXPLORATÓRIAS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27487" y="411480"/>
            <a:ext cx="932688" cy="237744"/>
          </a:xfrm>
          <a:prstGeom prst="roundRect">
            <a:avLst>
              <a:gd name="adj" fmla="val 15000"/>
            </a:avLst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2A1408"/>
                </a:solidFill>
                <a:latin typeface="Consolas"/>
              </a:rPr>
              <a:t>SUSPENSA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4160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>
                <a:solidFill>
                  <a:srgbClr val="E8F1F6"/>
                </a:solidFill>
                <a:latin typeface="Segoe UI Semibold"/>
              </a:rPr>
              <a:t>Acidentes 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19072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FB0C2"/>
                </a:solidFill>
                <a:latin typeface="Segoe UI"/>
              </a:rPr>
              <a:t>Análise exploratória da base do DER-SP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41605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E8F1F6"/>
                </a:solidFill>
                <a:latin typeface="Segoe UI"/>
              </a:rPr>
              <a:t>Análise exploratória dos acidentes registrados pelo DER-SP, organizada por rodovia e por período.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315968"/>
            <a:ext cx="38100" cy="347472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4352544"/>
            <a:ext cx="4160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A33A"/>
                </a:solidFill>
                <a:latin typeface="Segoe UI Semibold"/>
              </a:rPr>
              <a:t>Sinistralidade por rodovia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956048"/>
            <a:ext cx="416052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5138928"/>
            <a:ext cx="577896" cy="237744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>
                <a:solidFill>
                  <a:srgbClr val="8FB0C2"/>
                </a:solidFill>
                <a:latin typeface="Consolas"/>
              </a:rPr>
              <a:t>Python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18560" y="5138928"/>
            <a:ext cx="577896" cy="237744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>
                <a:solidFill>
                  <a:srgbClr val="8FB0C2"/>
                </a:solidFill>
                <a:latin typeface="Consolas"/>
              </a:rPr>
              <a:t>Render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30368" y="1060704"/>
            <a:ext cx="6302959" cy="237744"/>
          </a:xfrm>
          <a:prstGeom prst="rect">
            <a:avLst/>
          </a:prstGeom>
          <a:solidFill>
            <a:srgbClr val="103246"/>
          </a:solidFill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0" tIns="0" bIns="0"/>
          <a:lstStyle/>
          <a:p>
            <a:pPr algn="ctr"/>
            <a:r>
              <a:rPr sz="800">
                <a:solidFill>
                  <a:srgbClr val="5D8296"/>
                </a:solidFill>
                <a:latin typeface="Consolas"/>
              </a:rPr>
              <a:t>   https://acidentes-der-analise-exploratoria.onrender.com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1808" y="1115568"/>
            <a:ext cx="73152" cy="73152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9824" y="1115568"/>
            <a:ext cx="73152" cy="73152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1115568"/>
            <a:ext cx="73152" cy="73152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acidentes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1298448"/>
            <a:ext cx="6302959" cy="283464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230368" y="1298448"/>
            <a:ext cx="6302959" cy="2834640"/>
          </a:xfrm>
          <a:prstGeom prst="rect">
            <a:avLst/>
          </a:prstGeom>
          <a:noFill/>
          <a:ln w="9525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0368" y="4206240"/>
            <a:ext cx="6302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Análise consolidada 2023-2025 · relatório de atividades, jun/2026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4572000"/>
            <a:ext cx="63029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O QUE ELA ENTREGA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30368" y="4928616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4846320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Recorte por rodovia sob gestão do DER-SP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0368" y="5212080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0" y="5129784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Séries temporais e comparação entre trechos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30368" y="5495544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5413248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Insumo direto para priorização de intervenções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https://acidentes-der-analise-exploratoria.onrender.com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1327" y="635508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Análises Exploratórias     17/21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E0A33A"/>
                </a:solidFill>
                <a:latin typeface="Consolas"/>
              </a:rPr>
              <a:t>APLICAÇÃO 08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1488" y="457200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ANÁLISES EXPLORATÓRIAS · DETALHAMENTO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27487" y="411480"/>
            <a:ext cx="932688" cy="237744"/>
          </a:xfrm>
          <a:prstGeom prst="roundRect">
            <a:avLst>
              <a:gd name="adj" fmla="val 15000"/>
            </a:avLst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2A1408"/>
                </a:solidFill>
                <a:latin typeface="Consolas"/>
              </a:rPr>
              <a:t>SUSPENSA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F1F6"/>
                </a:solidFill>
                <a:latin typeface="Segoe UI Semibold"/>
              </a:rPr>
              <a:t>Acidentes DER · por dentro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COMO FUNCIONA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19656"/>
            <a:ext cx="448056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066544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84248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Os arquivos Excel originais do DER são consolidados em uma base única em CSV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532888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50592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Scripts Python geram os gráficos interativos a partir dessa 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999232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16936"/>
            <a:ext cx="4224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O resultado é um conjunto de páginas estáticas: portal, dashboard principal com abas, dashboard compacto, relatório executivo e guia de acesso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648456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66160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Cada gráfico é uma página HTML independente, o que permite reaproveitá-los em relatórios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50408" y="1600200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DADOS E FONTES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50408" y="1819656"/>
            <a:ext cx="374903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50408" y="2066544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6440" y="1984248"/>
            <a:ext cx="3493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Registros de acidentes das rodovias estaduais sob gestão do DER-SP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50408" y="2532888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2450592"/>
            <a:ext cx="3493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Série consolidada de 2023, 2024 e 2025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50408" y="2816352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6440" y="2734056"/>
            <a:ext cx="3493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Base única dados_completos.csv gerada pelo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0408" y="3429000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INTEGRAÇÕES E PUBLICAÇÃO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50408" y="3648456"/>
            <a:ext cx="374903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50408" y="3895344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06440" y="3813048"/>
            <a:ext cx="3493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Publicação estática, sem backend em execução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50408" y="4178808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06440" y="4096512"/>
            <a:ext cx="3493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Complementa o Infosiga com o recorte específico do 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0927" y="1600200"/>
            <a:ext cx="182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NÚMEROS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10927" y="1819656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10927" y="1984248"/>
            <a:ext cx="182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0A33A"/>
                </a:solidFill>
                <a:latin typeface="Segoe UI Semibold"/>
              </a:rPr>
              <a:t>39.578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0927" y="2258568"/>
            <a:ext cx="182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D8296"/>
                </a:solidFill>
                <a:latin typeface="Consolas"/>
              </a:rPr>
              <a:t>ACIDENTES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10927" y="2514600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10927" y="2679192"/>
            <a:ext cx="182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0A33A"/>
                </a:solidFill>
                <a:latin typeface="Segoe UI Semibold"/>
              </a:rPr>
              <a:t>34.324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10927" y="2953512"/>
            <a:ext cx="182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D8296"/>
                </a:solidFill>
                <a:latin typeface="Consolas"/>
              </a:rPr>
              <a:t>VÍTIMAS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10927" y="3209544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10927" y="3374136"/>
            <a:ext cx="182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0A33A"/>
                </a:solidFill>
                <a:latin typeface="Segoe UI Semibold"/>
              </a:rPr>
              <a:t>2.065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10927" y="3648456"/>
            <a:ext cx="182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D8296"/>
                </a:solidFill>
                <a:latin typeface="Consolas"/>
              </a:rPr>
              <a:t>ÓBITOS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10927" y="3904488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10927" y="4069080"/>
            <a:ext cx="182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0A33A"/>
                </a:solidFill>
                <a:latin typeface="Segoe UI Semibold"/>
              </a:rPr>
              <a:t>29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10927" y="4343400"/>
            <a:ext cx="182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D8296"/>
                </a:solidFill>
                <a:latin typeface="Consolas"/>
              </a:rPr>
              <a:t>GRÁFICOS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10927" y="4599432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10927" y="4910328"/>
            <a:ext cx="182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SITUAÇÃO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10927" y="5129784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10927" y="5294376"/>
            <a:ext cx="1822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8FB0C2"/>
                </a:solidFill>
                <a:latin typeface="Segoe UI"/>
              </a:rPr>
              <a:t>Serviço suspenso no Render. Por ano: 14.389 acidentes em 2023, 13.882 em 2024 e 11.307 em 2025 — queda que merece checagem de completude antes de ser lida como tendência.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635508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https://acidentes-der-analise-exploratoria.onrender.com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61327" y="635508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Python  ·  Render     18/21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E0A33A"/>
                </a:solidFill>
                <a:latin typeface="Consolas"/>
              </a:rPr>
              <a:t>APLICAÇÃO 09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1488" y="457200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ANÁLISES EXPLORATÓRIAS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27487" y="411480"/>
            <a:ext cx="932688" cy="237744"/>
          </a:xfrm>
          <a:prstGeom prst="roundRect">
            <a:avLst>
              <a:gd name="adj" fmla="val 15000"/>
            </a:avLst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2A1408"/>
                </a:solidFill>
                <a:latin typeface="Consolas"/>
              </a:rPr>
              <a:t>SUSPENSA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4160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>
                <a:solidFill>
                  <a:srgbClr val="E8F1F6"/>
                </a:solidFill>
                <a:latin typeface="Segoe UI Semibold"/>
              </a:rPr>
              <a:t>Densidade Malha 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19072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FB0C2"/>
                </a:solidFill>
                <a:latin typeface="Segoe UI"/>
              </a:rPr>
              <a:t>Densidade da malha viária estadual paulista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41605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E8F1F6"/>
                </a:solidFill>
                <a:latin typeface="Segoe UI"/>
              </a:rPr>
              <a:t>Mede e visualiza a densidade da malha viária estadual por trecho e por região, expondo vazios e concentrações de cobertura.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315968"/>
            <a:ext cx="38100" cy="347472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4352544"/>
            <a:ext cx="4160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A33A"/>
                </a:solidFill>
                <a:latin typeface="Segoe UI Semibold"/>
              </a:rPr>
              <a:t>Cobertura da rede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956048"/>
            <a:ext cx="416052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5138928"/>
            <a:ext cx="577896" cy="237744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>
                <a:solidFill>
                  <a:srgbClr val="8FB0C2"/>
                </a:solidFill>
                <a:latin typeface="Consolas"/>
              </a:rPr>
              <a:t>Python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18560" y="5138928"/>
            <a:ext cx="577896" cy="237744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>
                <a:solidFill>
                  <a:srgbClr val="8FB0C2"/>
                </a:solidFill>
                <a:latin typeface="Consolas"/>
              </a:rPr>
              <a:t>Render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30368" y="1060704"/>
            <a:ext cx="6302959" cy="237744"/>
          </a:xfrm>
          <a:prstGeom prst="rect">
            <a:avLst/>
          </a:prstGeom>
          <a:solidFill>
            <a:srgbClr val="103246"/>
          </a:solidFill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0" tIns="0" bIns="0"/>
          <a:lstStyle/>
          <a:p>
            <a:pPr algn="ctr"/>
            <a:r>
              <a:rPr sz="800">
                <a:solidFill>
                  <a:srgbClr val="5D8296"/>
                </a:solidFill>
                <a:latin typeface="Consolas"/>
              </a:rPr>
              <a:t>   https://densidade-de-malha-estadual-sp.onrender.com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1808" y="1115568"/>
            <a:ext cx="73152" cy="73152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9824" y="1115568"/>
            <a:ext cx="73152" cy="73152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1115568"/>
            <a:ext cx="73152" cy="73152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ensida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1298448"/>
            <a:ext cx="6302959" cy="283464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230368" y="1298448"/>
            <a:ext cx="6302959" cy="2834640"/>
          </a:xfrm>
          <a:prstGeom prst="rect">
            <a:avLst/>
          </a:prstGeom>
          <a:noFill/>
          <a:ln w="9525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0368" y="4206240"/>
            <a:ext cx="6302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Análise geoespacial da malha · relatório de atividades, jun/2026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4572000"/>
            <a:ext cx="63029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O QUE ELA ENTREGA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30368" y="4928616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4846320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Densidade calculada por trecho e por região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0368" y="5212080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0" y="5129784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Leitura territorial dos vazios de cobertura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30368" y="5495544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5413248"/>
            <a:ext cx="6046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Base para estudos de expansão da malha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https://densidade-de-malha-estadual-sp.onrender.com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1327" y="635508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Análises Exploratórias     19/21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E0A33A"/>
                </a:solidFill>
                <a:latin typeface="Consolas"/>
              </a:rPr>
              <a:t>APLICAÇÃO 09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1488" y="457200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ANÁLISES EXPLORATÓRIAS · DETALHAMENTO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27487" y="411480"/>
            <a:ext cx="932688" cy="237744"/>
          </a:xfrm>
          <a:prstGeom prst="roundRect">
            <a:avLst>
              <a:gd name="adj" fmla="val 15000"/>
            </a:avLst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2A1408"/>
                </a:solidFill>
                <a:latin typeface="Consolas"/>
              </a:rPr>
              <a:t>SUSPENSA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F1F6"/>
                </a:solidFill>
                <a:latin typeface="Segoe UI Semibold"/>
              </a:rPr>
              <a:t>Densidade Malha SP · por dentro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COMO FUNCIONA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19656"/>
            <a:ext cx="448056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066544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84248"/>
            <a:ext cx="42245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Análise geoespacial em Python com GeoPandas e Folium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50008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67712"/>
            <a:ext cx="42245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Calcula densidade da malha por área e por população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633472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551176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Classifica os trechos por tipo de administração, categoria de rodovia e localização urbana ou rural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099816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017520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O relatório final é um site estático com contextualização, objetivos, dados, metodologia, resultados e anexo de mapas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566160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83864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Os dados de entrada e saída ficam fora do versionamento para manter o repositório leve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0408" y="1600200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DADOS E FONTES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50408" y="1819656"/>
            <a:ext cx="374903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50408" y="2066544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1984248"/>
            <a:ext cx="3493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DER/SP — malha rodoviária estadual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50408" y="2350008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6440" y="2267712"/>
            <a:ext cx="3493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IBGE — malha territorial e população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50408" y="2633472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06440" y="2551176"/>
            <a:ext cx="3493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Recorte estadual completo, ano-base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50408" y="3063240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INTEGRAÇÕES E PUBLICAÇÃO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50408" y="3282696"/>
            <a:ext cx="374903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550408" y="3529584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06440" y="3447288"/>
            <a:ext cx="3493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Publicação estática (Static Site) no Render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50408" y="3813048"/>
            <a:ext cx="128016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06440" y="3730752"/>
            <a:ext cx="3493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3E3EC"/>
                </a:solidFill>
                <a:latin typeface="Segoe UI"/>
              </a:rPr>
              <a:t>Mapas interativos anexos ao relatório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0927" y="1600200"/>
            <a:ext cx="182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NÚMEROS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10927" y="1819656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10927" y="1984248"/>
            <a:ext cx="182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0A33A"/>
                </a:solidFill>
                <a:latin typeface="Segoe UI Semibold"/>
              </a:rPr>
              <a:t>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10927" y="2258568"/>
            <a:ext cx="182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D8296"/>
                </a:solidFill>
                <a:latin typeface="Consolas"/>
              </a:rPr>
              <a:t>ANO-BASE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10927" y="2514600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10927" y="2679192"/>
            <a:ext cx="182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0A33A"/>
                </a:solidFill>
                <a:latin typeface="Segoe UI Semibold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10927" y="2953512"/>
            <a:ext cx="182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D8296"/>
                </a:solidFill>
                <a:latin typeface="Consolas"/>
              </a:rPr>
              <a:t>INDICADORES DE DENSIDADE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10927" y="3209544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10927" y="3374136"/>
            <a:ext cx="182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0A33A"/>
                </a:solidFill>
                <a:latin typeface="Segoe UI Semibold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10927" y="3648456"/>
            <a:ext cx="182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D8296"/>
                </a:solidFill>
                <a:latin typeface="Consolas"/>
              </a:rPr>
              <a:t>CLASSIFICAÇÕES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10927" y="3904488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10927" y="4215384"/>
            <a:ext cx="182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SITUAÇÃO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10927" y="4434840"/>
            <a:ext cx="1822400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10927" y="4599432"/>
            <a:ext cx="1822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8FB0C2"/>
                </a:solidFill>
                <a:latin typeface="Segoe UI"/>
              </a:rPr>
              <a:t>Serviço suspenso no Render. O relatório pode ser aberto localmente a partir de relatorio/index.html, sem necessidade de servidor.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https://densidade-de-malha-estadual-sp.onrender.com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61327" y="635508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Python  ·  Render     20/21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EC26E"/>
                </a:solidFill>
                <a:latin typeface="Consolas"/>
              </a:rPr>
              <a:t>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8F1F6"/>
                </a:solidFill>
                <a:latin typeface="Segoe UI Semibold"/>
              </a:rPr>
              <a:t>Como as peças conversam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FB0C2"/>
                </a:solidFill>
                <a:latin typeface="Segoe UI"/>
              </a:rPr>
              <a:t>O portfólio não é um conjunto de sistemas isolados: quatro integrações já em produção ligam sensor, cadastro e decisão.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14884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SENSORES E COLETA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377440"/>
            <a:ext cx="2743200" cy="914400"/>
          </a:xfrm>
          <a:prstGeom prst="rect">
            <a:avLst/>
          </a:prstGeom>
          <a:solidFill>
            <a:srgbClr val="0C2939"/>
          </a:solidFill>
          <a:ln w="12700">
            <a:solidFill>
              <a:srgbClr val="3AA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377440"/>
            <a:ext cx="44450" cy="9144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56032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F1F6"/>
                </a:solidFill>
                <a:latin typeface="Segoe UI Semibold"/>
              </a:rPr>
              <a:t>PLI-HazardTrack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871216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FB0C2"/>
                </a:solidFill>
                <a:latin typeface="Segoe UI"/>
              </a:rPr>
              <a:t>chuva MERGE/INPE → risco por trecho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520440"/>
            <a:ext cx="2743200" cy="914400"/>
          </a:xfrm>
          <a:prstGeom prst="rect">
            <a:avLst/>
          </a:prstGeom>
          <a:solidFill>
            <a:srgbClr val="0C2939"/>
          </a:solidFill>
          <a:ln w="12700">
            <a:solidFill>
              <a:srgbClr val="3AA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520440"/>
            <a:ext cx="44450" cy="9144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70332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F1F6"/>
                </a:solidFill>
                <a:latin typeface="Segoe UI Semibold"/>
              </a:rPr>
              <a:t>PLI Reporta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014216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FB0C2"/>
                </a:solidFill>
                <a:latin typeface="Segoe UI"/>
              </a:rPr>
              <a:t>relato do cidadão → incidente verificado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14884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OPERAÇÃO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0288" y="2926080"/>
            <a:ext cx="2743200" cy="914400"/>
          </a:xfrm>
          <a:prstGeom prst="rect">
            <a:avLst/>
          </a:prstGeom>
          <a:solidFill>
            <a:srgbClr val="0C2939"/>
          </a:solidFill>
          <a:ln w="12700">
            <a:solidFill>
              <a:srgbClr val="3AA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90288" y="2926080"/>
            <a:ext cx="44450" cy="9144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9744" y="31089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F1F6"/>
                </a:solidFill>
                <a:latin typeface="Segoe UI Semibold"/>
              </a:rPr>
              <a:t>PLI Smart Router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9744" y="3419856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FB0C2"/>
                </a:solidFill>
                <a:latin typeface="Segoe UI"/>
              </a:rPr>
              <a:t>rota que desvia do risco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01568" y="2834640"/>
            <a:ext cx="1188720" cy="365760"/>
          </a:xfrm>
          <a:prstGeom prst="line">
            <a:avLst/>
          </a:prstGeom>
          <a:ln w="15875">
            <a:solidFill>
              <a:srgbClr val="5D82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429000" y="2706624"/>
            <a:ext cx="11338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5D8296"/>
                </a:solidFill>
                <a:latin typeface="Consolas"/>
              </a:rPr>
              <a:t>CAMADAS DE RISCO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3401568" y="3611880"/>
            <a:ext cx="1188720" cy="365759"/>
          </a:xfrm>
          <a:prstGeom prst="line">
            <a:avLst/>
          </a:prstGeom>
          <a:ln w="15875">
            <a:solidFill>
              <a:srgbClr val="5D82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429000" y="3483863"/>
            <a:ext cx="11338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5D8296"/>
                </a:solidFill>
                <a:latin typeface="Consolas"/>
              </a:rPr>
              <a:t>GEOJSON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2208" y="214884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LEITURA DO TERRITÓRIO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22208" y="2377440"/>
            <a:ext cx="2743200" cy="914400"/>
          </a:xfrm>
          <a:prstGeom prst="rect">
            <a:avLst/>
          </a:prstGeom>
          <a:solidFill>
            <a:srgbClr val="0C2939"/>
          </a:solidFill>
          <a:ln w="12700">
            <a:solidFill>
              <a:srgbClr val="3AA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22208" y="2377440"/>
            <a:ext cx="44450" cy="9144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41664" y="256032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F1F6"/>
                </a:solidFill>
                <a:latin typeface="Segoe UI Semibold"/>
              </a:rPr>
              <a:t>FAD-Stats 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41664" y="2871216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FB0C2"/>
                </a:solidFill>
                <a:latin typeface="Segoe UI"/>
              </a:rPr>
              <a:t>IBGE · SECEX · MTE · ANTT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22208" y="3520440"/>
            <a:ext cx="2743200" cy="914400"/>
          </a:xfrm>
          <a:prstGeom prst="rect">
            <a:avLst/>
          </a:prstGeom>
          <a:solidFill>
            <a:srgbClr val="0C2939"/>
          </a:solidFill>
          <a:ln w="12700">
            <a:solidFill>
              <a:srgbClr val="E0A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22208" y="3520440"/>
            <a:ext cx="44450" cy="91440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41664" y="370332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F1F6"/>
                </a:solidFill>
                <a:latin typeface="Segoe UI Semibold"/>
              </a:rPr>
              <a:t>Análises Exploratórias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41664" y="4014216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FB0C2"/>
                </a:solidFill>
                <a:latin typeface="Segoe UI"/>
              </a:rPr>
              <a:t>sinistralidade e densidade da malha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9377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PLATAFORMA CENTRAL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166360"/>
            <a:ext cx="2743200" cy="914400"/>
          </a:xfrm>
          <a:prstGeom prst="rect">
            <a:avLst/>
          </a:prstGeom>
          <a:solidFill>
            <a:srgbClr val="0C2939"/>
          </a:solidFill>
          <a:ln w="12700">
            <a:solidFill>
              <a:srgbClr val="3EC2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5166360"/>
            <a:ext cx="44450" cy="914400"/>
          </a:xfrm>
          <a:prstGeom prst="rect">
            <a:avLst/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" y="534924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F1F6"/>
                </a:solidFill>
                <a:latin typeface="Segoe UI Semibold"/>
              </a:rPr>
              <a:t>SIGMA-PLI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" y="5660136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FB0C2"/>
                </a:solidFill>
                <a:latin typeface="Segoe UI"/>
              </a:rPr>
              <a:t>metadados, identidade e grafo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0288" y="49377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DECISÃO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90288" y="5166360"/>
            <a:ext cx="2743200" cy="914400"/>
          </a:xfrm>
          <a:prstGeom prst="rect">
            <a:avLst/>
          </a:prstGeom>
          <a:solidFill>
            <a:srgbClr val="0C2939"/>
          </a:solidFill>
          <a:ln w="12700">
            <a:solidFill>
              <a:srgbClr val="3AA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90288" y="5166360"/>
            <a:ext cx="44450" cy="9144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09744" y="534924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F1F6"/>
                </a:solidFill>
                <a:latin typeface="Segoe UI Semibold"/>
              </a:rPr>
              <a:t>SICARD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9744" y="5660136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FB0C2"/>
                </a:solidFill>
                <a:latin typeface="Segoe UI"/>
              </a:rPr>
              <a:t>carteira hierarquizada por AHP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22208" y="49377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MÉTODO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22208" y="5166360"/>
            <a:ext cx="2743200" cy="914400"/>
          </a:xfrm>
          <a:prstGeom prst="rect">
            <a:avLst/>
          </a:prstGeom>
          <a:solidFill>
            <a:srgbClr val="0C2939"/>
          </a:solidFill>
          <a:ln w="12700">
            <a:solidFill>
              <a:srgbClr val="3EC2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522208" y="5166360"/>
            <a:ext cx="44450" cy="914400"/>
          </a:xfrm>
          <a:prstGeom prst="rect">
            <a:avLst/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41664" y="534924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F1F6"/>
                </a:solidFill>
                <a:latin typeface="Segoe UI Semibold"/>
              </a:rPr>
              <a:t>AHP Tool Calculator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41664" y="5660136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FB0C2"/>
                </a:solidFill>
                <a:latin typeface="Segoe UI"/>
              </a:rPr>
              <a:t>pesos e consistência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401568" y="5623560"/>
            <a:ext cx="1188720" cy="0"/>
          </a:xfrm>
          <a:prstGeom prst="line">
            <a:avLst/>
          </a:prstGeom>
          <a:ln w="15875">
            <a:solidFill>
              <a:srgbClr val="5D82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429000" y="5312664"/>
            <a:ext cx="11338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5D8296"/>
                </a:solidFill>
                <a:latin typeface="Consolas"/>
              </a:rPr>
              <a:t>LOGIN E CADASTROS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7333488" y="5623560"/>
            <a:ext cx="1188720" cy="0"/>
          </a:xfrm>
          <a:prstGeom prst="line">
            <a:avLst/>
          </a:prstGeom>
          <a:ln w="15875">
            <a:solidFill>
              <a:srgbClr val="5D82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360920" y="5312664"/>
            <a:ext cx="11338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5D8296"/>
                </a:solidFill>
                <a:latin typeface="Consolas"/>
              </a:rPr>
              <a:t>MÉTODO AHP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" y="635508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4 integrações em produção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61327" y="635508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Arquitetura     21/21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