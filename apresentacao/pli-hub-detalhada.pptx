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53935" y="0"/>
            <a:ext cx="4937760" cy="6858000"/>
          </a:xfrm>
          <a:prstGeom prst="rect">
            <a:avLst/>
          </a:prstGeom>
          <a:solidFill>
            <a:srgbClr val="08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53935" y="0"/>
            <a:ext cx="12700" cy="6858000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VPC-GEOSER · 31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7600" b="1">
                <a:solidFill>
                  <a:srgbClr val="E8F1F6"/>
                </a:solidFill>
                <a:latin typeface="Segoe UI Semibold"/>
              </a:rPr>
              <a:t>PLI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95728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7600" b="1">
                <a:solidFill>
                  <a:srgbClr val="3AA6D9"/>
                </a:solidFill>
                <a:latin typeface="Segoe UI Semibold"/>
              </a:rPr>
              <a:t>em detalhe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5760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FB0C2"/>
                </a:solidFill>
                <a:latin typeface="Segoe UI"/>
              </a:rPr>
              <a:t>As 9 aplicações com tela registrada, uma a uma: o que fazem, como funcionam e de que dados vivem.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92040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RECORTE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09320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9 de 12 aplicações do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440680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CENTRAL DE ACESSO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64184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https://56.125.163.194/pli-hub/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9320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RESPONSÁVEL TÉCNICO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19048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Vinicius do Prado Capanema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015" y="137160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NESTE DOCUMENTO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94015" y="1783080"/>
            <a:ext cx="3657600" cy="3175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94015" y="189280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A6D9"/>
                </a:solidFill>
                <a:latin typeface="Segoe UI Semibold"/>
              </a:rPr>
              <a:t>Sistemas Maiores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4015" y="21671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SIGMA-PLI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015" y="2414016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015" y="266090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 Smart Router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4015" y="290779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 Reporta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015" y="315468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PLI-HazardTrack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4015" y="34015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FAD-Stats 2.0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94015" y="3849624"/>
            <a:ext cx="3657600" cy="3175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94015" y="395935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4015" y="423367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Acidentes Infosiga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4015" y="448056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Acidentes 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4015" y="47274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Densidade Malha 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O plano que estas aplicações servem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3AA6D9"/>
                </a:solidFill>
                <a:latin typeface="Consolas"/>
              </a:rPr>
              <a:t>Plano de Logística e Investimentos do Estado de São Paulo — PLI-SP 2050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O PLI-SP 2050 é o instrumento de planejamento de longo prazo da infraestrutura logística e dos sistemas de transporte do Estado de São Paulo, com horizonte em 2050. Ele examina a mobilidade de pessoas e mercadorias integrando diagnóstico territorial, projeção de demanda e avaliação de cenários, para fundamentar decisões de investimento público e privado.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520440"/>
            <a:ext cx="603504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7033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COORDENAÇÃO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904488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SEMIL — Secretaria de Meio Ambiente, Infraestrutura e Logística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8" y="37033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EXECUÇÃO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3904488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Consórcio Concremat–Transplan, contrato nº 22.607-5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36168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APOIO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6285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BID — Banco Interamericano de Desenvolvimento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436168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HORIZONTE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456285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2050, com trabalhos iniciados em 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02005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ABRANGÊNCIA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22122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Estado de São Paulo, 645 municípios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502005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PORTAL OFICIAL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8" y="522122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pli.semil.sp.gov.br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1874519"/>
            <a:ext cx="42912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AS QUATRO ETAPAS DO PLANO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2103120"/>
            <a:ext cx="429127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42048" y="22860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AA6D9"/>
                </a:solidFill>
                <a:latin typeface="Consola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8" y="2286000"/>
            <a:ext cx="2828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E8F1F6"/>
                </a:solidFill>
                <a:latin typeface="Segoe UI"/>
              </a:rPr>
              <a:t>Plano de Trabalho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36047" y="228600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até mar/2025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267004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AA6D9"/>
                </a:solidFill>
                <a:latin typeface="Consola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7808" y="2670048"/>
            <a:ext cx="2828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E8F1F6"/>
                </a:solidFill>
                <a:latin typeface="Segoe UI"/>
              </a:rPr>
              <a:t>Diagnóstico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36047" y="267004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até out/2025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05409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AA6D9"/>
                </a:solidFill>
                <a:latin typeface="Consola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3054096"/>
            <a:ext cx="2828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E8F1F6"/>
                </a:solidFill>
                <a:latin typeface="Segoe UI"/>
              </a:rPr>
              <a:t>Simulação e análise de alternativas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36047" y="305409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até mar/2026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2048" y="3438144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AA6D9"/>
                </a:solidFill>
                <a:latin typeface="Consolas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3438144"/>
            <a:ext cx="2828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E8F1F6"/>
                </a:solidFill>
                <a:latin typeface="Segoe UI"/>
              </a:rPr>
              <a:t>Plano de ação com intervenções prioritárias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36047" y="3438144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até ago/2026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4096512"/>
            <a:ext cx="42912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O QUE O PLANO PERSEGUE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42048" y="4325112"/>
            <a:ext cx="429127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42048" y="459943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0" y="4507992"/>
            <a:ext cx="4016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Diversificar a matriz de transporte do Estado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2048" y="49286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4837176"/>
            <a:ext cx="4016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Reduzir desigualdades regionais de acesso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42048" y="52578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80" y="5166360"/>
            <a:ext cx="4016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Elevar a eficiência logística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42048" y="558698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0" y="5495544"/>
            <a:ext cx="4016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Sustentar decisões de investimento com evidência técnica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pli.semil.sp.gov.br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Contexto     02/24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RECORTE DESTE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F1F6"/>
                </a:solidFill>
                <a:latin typeface="Segoe UI Semibold"/>
              </a:rPr>
              <a:t>Só o que já tem tela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8FB0C2"/>
                </a:solidFill>
                <a:latin typeface="Segoe UI"/>
              </a:rPr>
              <a:t>Das 12 aplicações do PLI Hub, 9 têm registro visual da interface — capturadas ao vivo no servidor de produção ou recuperadas das capturas do relatório de atividades. São essas que este documento detalha, com dois slides cada: a vitrine e o funcionamento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63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APLICAÇÕES DETALHADAS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25146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3EC26E"/>
                </a:solidFill>
                <a:latin typeface="Segoe UI Semibold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3063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NO 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1888" y="25146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0A33A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1888" y="3063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SUSPENSAS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25146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3063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SLIDES DE CONTEÚDO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794760"/>
            <a:ext cx="3411626" cy="381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977639"/>
            <a:ext cx="34116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Sistemas Maiores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720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553712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F1F6"/>
                </a:solidFill>
                <a:latin typeface="Segoe UI"/>
              </a:rPr>
              <a:t>SIGMA-PLI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68826" y="4617720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4846320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5604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" y="4937760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F1F6"/>
                </a:solidFill>
                <a:latin typeface="Segoe UI"/>
              </a:rPr>
              <a:t>SICARD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68826" y="5001768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34009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" y="5321808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F1F6"/>
                </a:solidFill>
                <a:latin typeface="Segoe UI"/>
              </a:rPr>
              <a:t>PLI Smart Router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68826" y="5385816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614416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724144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" y="5705856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F1F6"/>
                </a:solidFill>
                <a:latin typeface="Segoe UI"/>
              </a:rPr>
              <a:t>PLI Reporta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68826" y="5769864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998464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108192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6089904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F1F6"/>
                </a:solidFill>
                <a:latin typeface="Segoe UI"/>
              </a:rPr>
              <a:t>PLI-HazardTrack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68826" y="6153912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6382512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9224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" y="6473952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F1F6"/>
                </a:solidFill>
                <a:latin typeface="Segoe UI"/>
              </a:rPr>
              <a:t>FAD-Stats 2.0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68826" y="6537960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6766560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90034" y="3794760"/>
            <a:ext cx="3411626" cy="381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90034" y="3977639"/>
            <a:ext cx="34116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90034" y="45720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74082" y="4553712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F1F6"/>
                </a:solidFill>
                <a:latin typeface="Segoe UI"/>
              </a:rPr>
              <a:t>Acidentes Infosiga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00492" y="4617720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90034" y="4846320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90034" y="495604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74082" y="4937760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F1F6"/>
                </a:solidFill>
                <a:latin typeface="Segoe UI"/>
              </a:rPr>
              <a:t>Acidentes DER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00492" y="5001768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90034" y="5230368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90034" y="534009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74082" y="5321808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F1F6"/>
                </a:solidFill>
                <a:latin typeface="Segoe UI"/>
              </a:rPr>
              <a:t>Densidade Malha SP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00492" y="5385816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390034" y="5614416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Recorte     03/24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01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LEGADO DE DADOS DO PLANO · D-17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E8F1F6"/>
                </a:solidFill>
                <a:latin typeface="Segoe UI Semibold"/>
              </a:rPr>
              <a:t>SIGMA-PLI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Sistema Integrado de Gestão, Monitoramento e Apoio Técnico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4160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Cataloga, organiza e disponibiliza os dados técnicos produzidos ao longo do PLI-SP 2050. É a plataforma central: além do catálogo próprio, fornece autenticação e cadastro de pessoas e instituições para as demais aplicações do consórcio.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15968"/>
            <a:ext cx="38100" cy="347472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352544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A6D9"/>
                </a:solidFill>
                <a:latin typeface="Segoe UI Semibold"/>
              </a:rPr>
              <a:t>Plataforma central do ecossistema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956048"/>
            <a:ext cx="416052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138928"/>
            <a:ext cx="142827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Python 3.12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68940" y="5138928"/>
            <a:ext cx="154166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 + PostGIS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92896" y="5138928"/>
            <a:ext cx="69128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Memgraph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449824"/>
            <a:ext cx="74797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GeoServer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8636" y="5449824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 Shiny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05520" y="5449824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Cloudflare R2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62556" y="5449824"/>
            <a:ext cx="103143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 + Nginx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30368" y="1060704"/>
            <a:ext cx="6302959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1808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9824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77840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ig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98448"/>
            <a:ext cx="6302959" cy="28346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5230368" y="1298448"/>
            <a:ext cx="6302959" cy="283464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4206240"/>
            <a:ext cx="6302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Painel do SIGMA-PLI · relatório de atividades, jun/2026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4572000"/>
            <a:ext cx="6302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30368" y="49286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0" y="4846320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Catálogo de metadados com upload, indexação e busca avançada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30368" y="521208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0" y="5129784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Autenticação JWT e cadastro PF/PJ com verificação de e-mail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30368" y="54955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0" y="5413248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Grafo de conhecimento em Memgraph para relacionar dados e fontes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30368" y="57790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0" y="5696712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WebGIS próprio: camadas OGC (WMS/WFS) publicadas via GeoServer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30368" y="60624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0" y="5980176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Dashboards em R Shiny e painel administrativo completo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04/24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01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· DETALHAMENTO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LEGADO DE DADOS DO PLANO · D-17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89611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F1F6"/>
                </a:solidFill>
                <a:latin typeface="Segoe UI Semibold"/>
              </a:rPr>
              <a:t>SIGMA-PLI · por dentro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389888"/>
            <a:ext cx="38100" cy="4572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0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É o repositório técnico do plano: guarda o metadado, o arquivo e a relação entre eles. Sustenta a entrega de governança do D-17 e dá identidade única às demais aplicações do consórcio.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COMO FUNCIONA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04287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79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FastAPI serve a API e as páginas Jinja2; o frontend é HTML/CSS/JS modular, sem framework SPA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01751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35223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Autenticação por JWT somada a sessões; cadastro PF/PJ com verificação de e-mail via SendGrid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8386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01567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PostgreSQL 17 com PostGIS guarda cadastros, metadados e geometrias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95020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67911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Memgraph, por protocolo Bolt, mantém o grafo de conhecimento e os algoritmos de navegação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416551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34255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GeoServer publica as camadas em padrões OGC (WMS/WFS/WCS) consumidas pelo WebGIS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8289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00599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Arquivos do dicionário de dados vão para o Cloudflare R2, compatível com 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0408" y="20848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DADOS E FONTES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50408" y="230428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5040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2468879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Metadados e arquivos enviados pelos próprios usuários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8" y="301751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2935223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Catálogo do dicionário de dados do PLI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0408" y="330098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218687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Camadas geoespaciais publicadas no GeoServer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0408" y="358444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06440" y="3502151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Cadastros de pessoas físicas e jurídicas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0408" y="4014215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INTEGRAÇÕES E PUBLICAÇÃO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50408" y="4233671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550408" y="448055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6440" y="4398263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Fornece autenticação e cadastros ao SICARD (somente leitura)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0408" y="494690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06440" y="486460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GeoServer, Memgraph, Cloudflare R2 e R Shiny Server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50408" y="541324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06440" y="5330951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Nginx como proxy reverso, tudo em Docker Compose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0927" y="2084831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NÚMEROS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10927" y="230428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10927" y="2468879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7" y="26974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MÓDULOS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10927" y="2907791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10927" y="3035807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927" y="32644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ATIVOS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10927" y="3474719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10927" y="3602735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10927" y="3831335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PARCIAL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10927" y="404164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10927" y="42976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SITUAÇÃO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10927" y="4517135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10927" y="4681727"/>
            <a:ext cx="1822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8FB0C2"/>
                </a:solidFill>
                <a:latin typeface="Segoe UI"/>
              </a:rPr>
              <a:t>Dez dos onze módulos estão ativos em produção. Apenas o M05 (Calendário) segue parcial. É a aplicação mais madura do portfólio e a única de que outra aplicação depende.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FastAPI · Python 3.12  ·  PostgreSQL 17 + PostGIS  ·  Memgraph  ·  GeoServer     05/24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02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METAS 4.1 A 4.4 DO TDR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E8F1F6"/>
                </a:solidFill>
                <a:latin typeface="Segoe UI Semibold"/>
              </a:rPr>
              <a:t>SICARD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Sistema Inteligente de Cadastro e Ranking de Demandas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4160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Cadastra, analisa, hierarquiza e acompanha planos, programas e projetos. É o instrumento operacional das Metas 4.1 a 4.4 do TDR: reúne o universo comparável de intervenções e produz o ranking por análise multicritério AHP, com trilha de auditoria.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15968"/>
            <a:ext cx="38100" cy="347472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352544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A6D9"/>
                </a:solidFill>
                <a:latin typeface="Segoe UI Semibold"/>
              </a:rPr>
              <a:t>Onde as intervenções viram carteira priorizada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956048"/>
            <a:ext cx="416052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138928"/>
            <a:ext cx="148496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Python 3.11+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5632" y="5138928"/>
            <a:ext cx="176842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 + PostGIS 3.5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449824"/>
            <a:ext cx="86135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HTML/CSS/JS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02020" y="5449824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API do SIGMA-PLI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0368" y="1060704"/>
            <a:ext cx="6302959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https://56.125.163.194/sicard/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9824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77840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i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98448"/>
            <a:ext cx="6302959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230368" y="1298448"/>
            <a:ext cx="6302959" cy="283464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4206240"/>
            <a:ext cx="6302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Portal público do SICARD · captura ao vivo, 31/ago/2026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4572000"/>
            <a:ext cx="6302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30368" y="49286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846320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Hierarquização multicritério por AHP, com pesos e consistência auditáveis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0368" y="521208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5129784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Triagem socioambiental e favorabilidade territorial por interseção espacial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30368" y="54955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413248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Ciclo de vida da demanda em três fases, de cadastro a execução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57790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5696712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Login e cadastros consumidos do SIGMA-PLI, sem duplicar base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30368" y="60624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980176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Trilha de auditoria de ponta a ponta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https://56.125.163.194/sicard/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06/24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02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· DETALHAMENTO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METAS 4.1 A 4.4 DO TDR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89611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F1F6"/>
                </a:solidFill>
                <a:latin typeface="Segoe UI Semibold"/>
              </a:rPr>
              <a:t>SICARD · por dentro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389888"/>
            <a:ext cx="38100" cy="4572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0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Executa as Metas 4.1 a 4.4 do TDR: reúne o universo comparável de intervenções, aplica os critérios e devolve o ranking que alimenta o plano de ação.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COMO FUNCIONA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04287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79"/>
            <a:ext cx="42245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Cada demanda — plano, programa ou projeto — vive em uma única linha do esquema demandas e avança no ciclo de vida sem cópias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0039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18103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 status percorre três fases: cadastro_analise, hierarquizacao e execucao, com a matriz de transições guardada no banco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66674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84447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 AHP cobre critérios, premissas, matriz de comparação pareada, cálculo de pesos, razão de consistência e homologação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13308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50791"/>
            <a:ext cx="42245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Ambientes colaborativos permitem convidar avaliadores com prazo e token público; o cálculo do servidor é a fonte da verdade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782311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00015"/>
            <a:ext cx="42245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 hierarquização é uma rodada persistida em JSONB: Fase 1 elegibilidade e interseções territoriais, Fase 2 favorabilidade, Fase 3 ajuste fino, e a síntese gera o ranking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0408" y="20848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DADOS E FONTES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0408" y="230428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5040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2468879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PostgreSQL 17 + PostGIS 3.5 como fonte definitiva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8" y="283463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2752343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SIGMA-PLI externo, consultado apenas para leitura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8" y="311810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03580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Catálogo territorial e conteúdo geoespacial próprios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0408" y="358444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502151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Trilha de auditoria de todas as decisões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0408" y="4014215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INTEGRAÇÕES E PUBLICAÇÃO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0408" y="4233671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50408" y="448055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4398263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Login, pessoas e instituições vêm do SIGMA-PLI; o SICARD nunca grava no banco dele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50408" y="494690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6440" y="486460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API sob o prefixo /api; páginas públicas em /public/ e operacionais em /restrict/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0408" y="541324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06440" y="5330951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URLs antigas respondem 308 preservando a query string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0927" y="2084831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NÚMEROS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10927" y="230428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10927" y="2468879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10927" y="26974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FASES DE STATUS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10927" y="2907791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10927" y="3035807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10927" y="32644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FASES + SÍNTESE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10927" y="3474719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10927" y="3602735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AHP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0927" y="3831335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MÉTODO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10927" y="404164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10927" y="42976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SITUAÇÃO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10927" y="4517135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10927" y="4681727"/>
            <a:ext cx="1822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8FB0C2"/>
                </a:solidFill>
                <a:latin typeface="Segoe UI"/>
              </a:rPr>
              <a:t>Inventário de implementação de 19 de julho de 2026: cadastro, análise, aprovação, configuração AHP, comparação colaborativa e hierarquização estão implementados e em uso.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https://56.125.163.194/sicard/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FastAPI · Python 3.11+  ·  PostgreSQL 17 + PostGIS 3.5  ·  HTML/CSS/JS  ·  API do SIGMA-PLI     07/24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03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EIXO E2 DO D-11 · ACESSIBILIDADE E INTERMODALIDADE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E8F1F6"/>
                </a:solidFill>
                <a:latin typeface="Segoe UI Semibold"/>
              </a:rPr>
              <a:t>PLI Smart 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Roteirizador multimodal com resiliência climática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4160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 rotas reais sobre a malha paulista, sobrepõe os alertas do HazardTrack e do PLI Reporta e recalcula o trajeto desviando das áreas afetadas. Materializa, em ferramenta, a pergunta do eixo de acessibilidade: como o risco altera o custo real de deslocamento.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15968"/>
            <a:ext cx="38100" cy="347472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352544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A6D9"/>
                </a:solidFill>
                <a:latin typeface="Segoe UI Semibold"/>
              </a:rPr>
              <a:t>Onde o alerta vira decisão operacional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956048"/>
            <a:ext cx="416052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138928"/>
            <a:ext cx="52120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Flask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1868" y="5138928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Leaflet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78752" y="5138928"/>
            <a:ext cx="137158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OSRM · OpenStreetMap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32632" y="5138928"/>
            <a:ext cx="125820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Nominatim · ViaCEP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0368" y="1060704"/>
            <a:ext cx="6302959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https://56.125.163.194/smart-router/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9824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77840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martrou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98448"/>
            <a:ext cx="6302959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230368" y="1298448"/>
            <a:ext cx="6302959" cy="283464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4206240"/>
            <a:ext cx="6302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Malha e camadas de risco · captura ao vivo, 31/ago/2026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4572000"/>
            <a:ext cx="6302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30368" y="49286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846320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Origem e destino por coordenada, busca textual ou clique no mapa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0368" y="521208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5129784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Geocodificação automática: CEP via ViaCEP, endereço via Nominatim/OSM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30368" y="54955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413248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Roteamento OSRM sobre OpenStreetMap, com waypoints intermediários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57790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5696712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Camadas ao vivo de risco climático e de incidentes verificados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30368" y="60624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980176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Rota alternativa automática com buffer de segurança de 500 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https://56.125.163.194/smart-router/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08/24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03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· DETALHAMENTO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EIXO E2 DO D-11 · ACESSIBILIDADE E INTERMODALIDADE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89611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F1F6"/>
                </a:solidFill>
                <a:latin typeface="Segoe UI Semibold"/>
              </a:rPr>
              <a:t>PLI Smart Router · por dentro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389888"/>
            <a:ext cx="38100" cy="4572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0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Responde à pergunta do eixo E2 do D-11 — demanda, acessibilidade e intermodalidade —, mostrando como o risco muda o custo real do deslocamento.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COMO FUNCIONA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04287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79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Origem e destino podem ser dados por coordenada, busca textual ou clique no mapa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01751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35223"/>
            <a:ext cx="42245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 geocoding detecta o tipo sozinho: CEP vai para o ViaCEP, endereço e cidade vão para o Nominatim/OSM, com autocomplete a cada 300 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66674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84447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 traçado sai do OSRM sobre a base OpenStreetMap, aceitando waypoints intermediários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13308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50791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Um catálogo dinâmico de camadas puxa risco do HazardTrack e incidentes do PLI Reporta em tempo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599431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517135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Com camadas ativas, o smart route calcula automaticamente uma alternativa desviando dos obstáculos, com buffer de 500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0408" y="20848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DADOS E FONTES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0408" y="230428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5040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2468879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OpenStreetMap e OSRM para a malha e o roteamento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8" y="283463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2752343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Nominatim e ViaCEP para geocodificação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8" y="311810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03580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PLI-HazardTrack: movimento de massa, inundação e risco de fogo por trecho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0408" y="358444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502151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PLI Reporta: bloqueios, alagamentos, lentidão, acidentes e obras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0408" y="4197095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INTEGRAÇÕES E PUBLICAÇÃO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0408" y="4416551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50408" y="466343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4581143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Consome os dois serviços de alerta do próprio ecossistema PLI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50408" y="512978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6440" y="504748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Endereços dos serviços configuráveis por variável de ambiente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0408" y="559612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06440" y="5513831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Publicável em qualquer host com gunicorn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0927" y="2084831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NÚMEROS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10927" y="230428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10927" y="2468879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v0.4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10927" y="26974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VERSÃO ATUAL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10927" y="2907791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10927" y="3035807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10927" y="32644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MODOS DE ENTRADA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10927" y="3474719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10927" y="3602735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500 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0927" y="3831335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BUFFER DE DESVIO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10927" y="404164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10927" y="42976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SITUAÇÃO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10927" y="4517135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10927" y="4681727"/>
            <a:ext cx="1822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8FB0C2"/>
                </a:solidFill>
                <a:latin typeface="Segoe UI"/>
              </a:rPr>
              <a:t>A versão Streamlit (v0.1) foi descontinuada. O backend Flask em app_flask.py é a única implementação suportada.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https://56.125.163.194/smart-router/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Flask  ·  Leaflet  ·  OSRM · OpenStreetMap  ·  Nominatim · ViaCEP     09/24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04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DADO PRIMÁRIO DE CAMPO · APOIO AO D-3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E8F1F6"/>
                </a:solidFill>
                <a:latin typeface="Segoe UI Semibold"/>
              </a:rPr>
              <a:t>PLI Reporta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Reporte cidadão de ocorrências viárias georreferenciadas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4160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Aplicativo mobile-first em que o cidadão reporta ocorrências na via. Os relatos passam por um pipeline de veracidade e relevância e só então alimentam os serviços de roteamento e alerta, como camada operacional de incidentes verificados.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15968"/>
            <a:ext cx="38100" cy="347472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352544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A6D9"/>
                </a:solidFill>
                <a:latin typeface="Segoe UI Semibold"/>
              </a:rPr>
              <a:t>A camada de incidentes verificados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956048"/>
            <a:ext cx="416052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138928"/>
            <a:ext cx="120150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Uvicorn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42172" y="5138928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9056" y="5138928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PWA mobile-first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168" y="5138928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0368" y="1060704"/>
            <a:ext cx="6302959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https://56.125.163.194/pli-reporta/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9824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77840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epo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98448"/>
            <a:ext cx="6302959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230368" y="1298448"/>
            <a:ext cx="6302959" cy="283464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4206240"/>
            <a:ext cx="6302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Tela de reporte do cidadão · captura ao vivo, 31/ago/2026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4572000"/>
            <a:ext cx="6302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30368" y="49286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846320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Reportes de buraco, alagamento, sinistro, bloqueio, obra e sinalização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0368" y="521208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5129784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Pipeline de veracidade e relevância antes da publicação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30368" y="54955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413248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Mapa público e fluxo de moderação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57790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5696712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Endpoint GeoJSON estável para consumo pelo roteador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30368" y="60624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980176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Instalável como PWA, pensado para uso em campo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https://56.125.163.194/pli-reporta/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10/24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04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· DETALHAMENTO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DADO PRIMÁRIO DE CAMPO · APOIO AO D-3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89611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F1F6"/>
                </a:solidFill>
                <a:latin typeface="Segoe UI Semibold"/>
              </a:rPr>
              <a:t>PLI Reporta · por dentro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389888"/>
            <a:ext cx="38100" cy="4572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0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Produz dado primário de campo sobre condição da via, complementando a caracterização do sistema de transporte do D-3 com informação que nenhuma base oficial traz em tempo real.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COMO FUNCIONA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04287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79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 unidade de análise é o incidente geoespacial verificável, não o formulário preenchido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01751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35223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Cada incidente percorre o ciclo submetido → triado → validado → publicado → expirado/resolvido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8386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01567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Dois scores independentes qualificam o relato: veracidade (é real?) e relevância (importa para a rota?)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95020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67911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 veracidade é média ponderada de sinais, V = Σ(wᵢ·sᵢ)/Σwᵢ, e a combinação com a relevância define a prioridade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416551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34255"/>
            <a:ext cx="42245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Toda decisão automática registra os sinais que a produziram, e o cidadão pode saber por que o reporte foi aceito ou descartado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0408" y="20848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DADOS E FONTES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0408" y="230428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5040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2468879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Relatos do cidadão, georreferenciados e com mídia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8" y="283463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2752343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Sinais de reconfirmação por outros usuários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8" y="311810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035807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Camadas PostGIS de incidentes publicados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0408" y="354787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INTEGRAÇÕES E PUBLICAÇÃO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50408" y="376732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50408" y="401421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06440" y="3931919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Expõe um endpoint GeoJSON estável para o roteador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50408" y="429767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4215383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Alimenta o PLI Smart Router como camada de incidentes verificados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50408" y="476402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6440" y="468172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Aplicação independente: roda em qualquer host com Python 3.10+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10927" y="2084831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NÚMEROS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10927" y="230428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10927" y="2468879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0927" y="26974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ESTADOS NO CICLO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10927" y="2907791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10927" y="3035807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10927" y="32644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SCORES ORTOGONAIS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10927" y="3474719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10927" y="3602735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PWA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10927" y="3831335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INSTALÁVEL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10927" y="404164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10927" y="42976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SITUAÇÃO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10927" y="4517135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10927" y="4681727"/>
            <a:ext cx="1822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8FB0C2"/>
                </a:solidFill>
                <a:latin typeface="Segoe UI"/>
              </a:rPr>
              <a:t>Separar veracidade de relevância é decisão deliberada: um buraco pequeno em rua sem volume é verdadeiro mas irrelevante; um bloqueio em corredor estratégico é relevante mesmo com confiança moderada.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https://56.125.163.194/pli-reporta/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FastAPI · Uvicorn  ·  PostGIS  ·  PWA mobile-first  ·  GeoJSON     11/24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05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TEMA D11C_18 · RESILIÊNCIA A EVENTOS EXTREMOS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E8F1F6"/>
                </a:solidFill>
                <a:latin typeface="Segoe UI Semibold"/>
              </a:rPr>
              <a:t>PLI-HazardTrack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SAMAEG-PLI · Monitoramento, Análise e Alerta Geodinâmico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4160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Monitora chuva em streaming e traduz o dado bruto em risco por trecho rodoviário do DER-SP. É a resposta operacional ao tema D11c_18: a recomendação foi converter “mudanças climáticas” em resiliência da infraestrutura e eventos extremos — e é exatamente isso que a ferramenta calcula.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15968"/>
            <a:ext cx="38100" cy="347472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352544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A6D9"/>
                </a:solidFill>
                <a:latin typeface="Segoe UI Semibold"/>
              </a:rPr>
              <a:t>O tema climático do D-11 virado ferramenta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956048"/>
            <a:ext cx="416052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138928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138928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MERGE/CPTEC/INPE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5672" y="5138928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2556" y="5138928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0368" y="1060704"/>
            <a:ext cx="6302959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https://56.125.163.194/pli-hazardtrack/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9824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77840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hazardtr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98448"/>
            <a:ext cx="6302959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230368" y="1298448"/>
            <a:ext cx="6302959" cy="283464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4206240"/>
            <a:ext cx="6302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Mapa integrado de riscos climáticos · captura ao vivo, 31/ago/2026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4572000"/>
            <a:ext cx="6302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30368" y="49286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846320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Chuva MERGE/CPTEC/INPE consumida em streaming, sem cache em disco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0368" y="521208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5129784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Modelo oficial de Risco Dinâmico RD = RA × ICC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30368" y="54955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413248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Quatro regiões climático-geológico-geomorfológicas do litoral paulista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57790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5696712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Camadas de movimento de massa, inundação e risco de fogo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30368" y="60624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980176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Níveis operacionais compatíveis com o PPDC da Defesa Civil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https://56.125.163.194/pli-hazardtrack/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12/24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05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· DETALHAMENTO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TEMA D11C_18 · RESILIÊNCIA A EVENTOS EXTREMOS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89611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F1F6"/>
                </a:solidFill>
                <a:latin typeface="Segoe UI Semibold"/>
              </a:rPr>
              <a:t>PLI-HazardTrack · por dentro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389888"/>
            <a:ext cx="38100" cy="4572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0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É o tema D11c_18 convertido em ferramenta. A avaliação de aderência ao TDR recomendou trocar “mudanças climáticas” por resiliência da infraestrutura e eventos extremos; o HazardTrack calcula exatamente essa variável.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COMO FUNCIONA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04287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79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 cada ciclo, 96 arquivos GRIB2 horários do INPE são baixados em streaming direto para a memória — nada toca o disco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01751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35223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 amostragem usa uma única chamada nativa para todos os pontos, com ThreadPool de 8 workers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8386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01567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 índice de chuva vira CPC = I / (K_região · Ac96h^-0,9), com K próprio de cada região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95020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67911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 ICC é classificado de 0 a 4 em duas vias, geológica e hidrológica, conforme os limiares da região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416551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34255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 Risco Dinâmico sai da matriz oficial RD = RA × ICC, e o RD final é o maior entre a via geológica e a hidrológica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0408" y="20848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DADOS E FONTES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0408" y="230428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5040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2468879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Chuva MERGE/CPTEC/INPE — intensidade da última hora, acumulado em 24 h e em 96 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8" y="301751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2935223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Quatro regiões climático-geológico-geomorfológicas com buffer de 1.000 m do eixo cadastral do 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8" y="348386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40156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Tabelas oficiais do relatório REGEA-NIPPON 2021 (Produto 06)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0408" y="395020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867911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24 pontos amostrais ao longo da SP-055 e da SP-098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0408" y="4379975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INTEGRAÇÕES E PUBLICAÇÃO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0408" y="4599431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50408" y="484631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4764023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Entrega as camadas de risco por trecho ao PLI Smart Router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50408" y="531266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6440" y="523036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Atualização a cada 10 minutos no servidor e a cada 30 segundos no cliente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0408" y="577900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06440" y="5696711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Se a rede do INPE falhar, o snapshot vai para no_data — não há dado simulado no caminho operacional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0927" y="2084831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NÚMEROS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10927" y="230428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10927" y="2468879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10927" y="26974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REGIÕES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10927" y="2907791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10927" y="3035807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10927" y="32644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PONTOS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10927" y="3474719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10927" y="3602735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0927" y="3831335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GRIB2 POR CICLO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10927" y="404164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10927" y="4169663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10 min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10927" y="4398263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ATUALIZAÇÃO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10927" y="4608575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10927" y="48646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SITUAÇÃO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10927" y="5084063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10927" y="5248655"/>
            <a:ext cx="1822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8FB0C2"/>
                </a:solidFill>
                <a:latin typeface="Segoe UI"/>
              </a:rPr>
              <a:t>Validado por backtest do evento de 19/02/2023 em São Sebastião: Juquehy chegou a RD4, Camburi a RD3 e Maresias a RD1. Vinte testes unitários cobrem as equações de risco.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https://56.125.163.194/pli-hazardtrack/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Python  ·  MERGE/CPTEC/INPE  ·  PostGIS  ·  Docker     13/24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06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PRODUTO D-2 · CARACTERIZAÇÃO SOCIOECONÔMICA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E8F1F6"/>
                </a:solidFill>
                <a:latin typeface="Segoe UI Semibold"/>
              </a:rPr>
              <a:t>FAD-Stats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Ferramenta de Análise Dinamizada de Dados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4160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Plataforma de análise estatística e espacial de dados oficiais. Reúne produção agropecuária, comércio exterior, mercado de trabalho e logística em uma única bancada — o insumo da caracterização socioeconômica que abre o diagnóstico do plano.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15968"/>
            <a:ext cx="38100" cy="347472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352544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A6D9"/>
                </a:solidFill>
                <a:latin typeface="Segoe UI Semibold"/>
              </a:rPr>
              <a:t>A leitura socioeconômica do território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956048"/>
            <a:ext cx="416052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138928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5252" y="5138928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2288" y="5138928"/>
            <a:ext cx="120150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HTML/JS sem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16092" y="5138928"/>
            <a:ext cx="103143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 + Nginx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0368" y="1060704"/>
            <a:ext cx="6302959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https://56.125.163.194/fad-stats/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9824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77840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dst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98448"/>
            <a:ext cx="6302959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230368" y="1298448"/>
            <a:ext cx="6302959" cy="283464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4206240"/>
            <a:ext cx="6302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Hub de dashboards da FAD-Stats · relatório de atividades, jun/2026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4572000"/>
            <a:ext cx="6302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30368" y="49286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846320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Fontes oficiais: IBGE, SECEX, MTE/RAIS e ANTT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0368" y="521208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5129784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21 tipos de gráfico e 6 tipos de mapa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30368" y="54955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413248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Recortes municipais e regionais sobre os 645 municípios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57790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5696712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Interface pública com a barra padrão do Governo de São Paulo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https://56.125.163.194/fad-stats/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14/24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06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· DETALHAMENTO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PRODUTO D-2 · CARACTERIZAÇÃO SOCIOECONÔMICA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89611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F1F6"/>
                </a:solidFill>
                <a:latin typeface="Segoe UI Semibold"/>
              </a:rPr>
              <a:t>FAD-Stats 2.0 · por dentro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389888"/>
            <a:ext cx="38100" cy="4572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0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Instrumenta o Produto D-2, a caracterização socioeconômica do Estado, que abre o diagnóstico e baliza as projeções de demanda.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COMO FUNCIONA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04287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79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Backend FastAPI dividido em routers, services, queries e models, com settings, rate limit e métricas no 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01751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35223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Cinco routers atendem análise, catálogo, comércio exterior, análise PLI e health check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8386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01567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 frontend é HTML, CSS e JavaScript puros, sem etapa de build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95020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67911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Um catálogo GeoJSON no backend sustenta os recortes espaciais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416551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34255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As consultas são montadas a partir de templates parametrizados por recorte e período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0408" y="20848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DADOS E FONTES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0408" y="230428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50408" y="2551175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2468879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IBGE — produção agropecuária e base territorial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8" y="283463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2752343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SECEX — comércio exterior por município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8" y="311810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035807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MTE / RAIS — mercado de trabalho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0408" y="340156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319271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ANTT — logística e transporte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0408" y="3831335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INTEGRAÇÕES E PUBLICAÇÃO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0408" y="4050791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50408" y="4297679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4215383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Publicada sob /fad-stats/ no mesmo Nginx dos demais sistemas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50408" y="4764023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6440" y="468172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Interface pública com a barra padrão do Governo de São Paulo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0408" y="5230367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06440" y="5148071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Banco PostgreSQL 17 dedicado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0927" y="2084831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NÚMEROS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10927" y="230428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10927" y="2468879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10927" y="26974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TIPOS DE GRÁFICO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10927" y="2907791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10927" y="3035807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10927" y="32644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TIPOS DE MAPA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10927" y="3474719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10927" y="3602735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0927" y="3831335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FONTES OFICIAIS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10927" y="404164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10927" y="42976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SITUAÇÃO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10927" y="4517135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10927" y="4681727"/>
            <a:ext cx="1822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8FB0C2"/>
                </a:solidFill>
                <a:latin typeface="Segoe UI"/>
              </a:rPr>
              <a:t>Segunda geração da ferramenta, com frontend reescrito em HTML puro para eliminar a dependência de React e a etapa de build.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https://56.125.163.194/fad-stats/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FastAPI  ·  PostgreSQL 17  ·  HTML/JS sem build  ·  Docker + Nginx     15/24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07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E0A33A"/>
                </a:solidFill>
                <a:latin typeface="Consolas"/>
              </a:rPr>
              <a:t>EIXO E3 DO D-11 · SEGURANÇA VIÁRIA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E8F1F6"/>
                </a:solidFill>
                <a:latin typeface="Segoe UI Semibold"/>
              </a:rPr>
              <a:t>Acidentes Infosiga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Análise exploratória dos sinistros de trânsito do Estado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4160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Análise exploratória sobre o Infosiga-SP, o Sistema de Informações Gerenciais de Sinistros de Trânsito mantido pelo Detran-SP. Cobre os 645 municípios e cruza os sinistros com a malha rodoviária, com filtros por período, tipo e localização.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15968"/>
            <a:ext cx="38100" cy="347472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352544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O retrato estadual da sinistralidade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956048"/>
            <a:ext cx="416052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138928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138928"/>
            <a:ext cx="74797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GeoPandas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28" y="5138928"/>
            <a:ext cx="108812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Dashboards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9248" y="5138928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0368" y="1060704"/>
            <a:ext cx="6302959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https://acidentes-infosiga.onrender.com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9824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77840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nfosi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98448"/>
            <a:ext cx="6302959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230368" y="1298448"/>
            <a:ext cx="6302959" cy="283464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4206240"/>
            <a:ext cx="6302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Portal de sinistros rodoviários · relatório de atividades, jun/2026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4572000"/>
            <a:ext cx="6302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30368" y="4928616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846320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Base oficial do Detran-SP, atualizada mensalmente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0368" y="5212080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5129784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Óbitos contados até 30 dias após o sinistro, como manda o Infosiga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30368" y="54955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413248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Registros consolidados de Polícia Militar, PMR e PRF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57790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5696712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Cruzamento espacial com a malha rodoviária estadual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https://acidentes-infosiga.onrender.com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16/24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07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 · DETALHAMENTO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E0A33A"/>
                </a:solidFill>
                <a:latin typeface="Consolas"/>
              </a:rPr>
              <a:t>EIXO E3 DO D-11 · SEGURANÇA VIÁRIA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89611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F1F6"/>
                </a:solidFill>
                <a:latin typeface="Segoe UI Semibold"/>
              </a:rPr>
              <a:t>Acidentes Infosiga · por dentro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389888"/>
            <a:ext cx="38100" cy="4572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0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Alimenta o eixo E3 do D-11 — resiliência, segurança e sustentabilidade — com a externalidade que precisa ser parametrizada nos cenários: a sinistralidade.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COMO FUNCIONA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04287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551175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79"/>
            <a:ext cx="42245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Pipeline em três etapas executadas em sequência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834639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52343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01_processa_dados.py faz o ETL e consolida os CSVs do InfoSiga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300983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18687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02_analise_geografica.py cruza os sinistros com a malha rodoviária estadual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767327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685031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03_gera_html.py produz os dashboards HTML interativos, publicados como site estático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233671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151375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Os dados brutos não são versionados: entram na pasta dados/ e saem como artefatos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0408" y="20848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DADOS E FONTES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0408" y="230428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50408" y="2551175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2468879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Infosiga-SP, do Detran-SP: Sistema de Informações Gerenciais de Sinistros de Trânsito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8" y="3017519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2935223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Registros consolidados de Polícia Militar, PMR e PRF, atualizados mensalmente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8" y="3483863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40156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Óbitos contados até 30 dias após o sinistro, conforme o critério oficial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0408" y="3950207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867911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Cobertura dos 645 municípios paulistas, cruzada com o shapefile da malha estadual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0408" y="4562855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INTEGRAÇÕES E PUBLICAÇÃO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0408" y="4782311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50408" y="5029199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4946903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Publicação estática, sem backend em execução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50408" y="5312663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6440" y="523036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Dashboards navegáveis por portal, análise geográfica, relatório executivo e guia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10927" y="2084831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NÚMEROS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10927" y="230428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10927" y="2468879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1.364.070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0927" y="26974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SINISTROS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10927" y="2907791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10927" y="3035807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62.029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10927" y="32644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ÓBITOS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10927" y="3474719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10927" y="3602735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95.166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10927" y="3831335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FERIDOS GRAVES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10927" y="404164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10927" y="4169663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92,3%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10927" y="4398263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GEOLOCALIZADOS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710927" y="4608575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10927" y="48646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SITUAÇÃO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10927" y="5084063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10927" y="5248655"/>
            <a:ext cx="1822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8FB0C2"/>
                </a:solidFill>
                <a:latin typeface="Segoe UI"/>
              </a:rPr>
              <a:t>Serviço suspenso no Render. O pipeline continua reproduzível a partir do repositório: basta rodar os três scripts para regerar os dashboards.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https://acidentes-infosiga.onrender.com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Python  ·  GeoPandas  ·  Dashboards HTML  ·  Render     17/24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08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E0A33A"/>
                </a:solidFill>
                <a:latin typeface="Consolas"/>
              </a:rPr>
              <a:t>EIXO E3 DO D-11 · SEGURANÇA VIÁRIA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E8F1F6"/>
                </a:solidFill>
                <a:latin typeface="Segoe UI Semibold"/>
              </a:rPr>
              <a:t>Acidentes 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Análise exploratória dos sinistros na malha do DER-SP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4160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Recorta a sinistralidade para as rodovias sob gestão do DER-SP — a autarquia que administra mais de 12 mil km de malha estadual — e organiza a leitura por rodovia e por ano, com a série consolidada de 2023 a 2025.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15968"/>
            <a:ext cx="38100" cy="347472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352544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O recorte da malha estadual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956048"/>
            <a:ext cx="416052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138928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138928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Plotly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78752" y="5138928"/>
            <a:ext cx="108812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Dashboards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49172" y="5138928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0368" y="1060704"/>
            <a:ext cx="6302959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https://acidentes-der-analise-exploratoria.onrender.com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9824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77840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cidentes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98448"/>
            <a:ext cx="6302959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230368" y="1298448"/>
            <a:ext cx="6302959" cy="283464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4206240"/>
            <a:ext cx="6302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Análise consolidada 2023-2025 · relatório de atividades, jun/2026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4572000"/>
            <a:ext cx="6302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30368" y="4928616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846320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Recorte exclusivo da malha sob gestão do DER-SP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0368" y="5212080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5129784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Série consolidada de 2023, 2024 e 2025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30368" y="54955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413248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Séries temporais e comparação entre trechos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57790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5696712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Insumo direto para priorização de intervenções de segurança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https://acidentes-der-analise-exploratoria.onrender.com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18/24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08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 · DETALHAMENTO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E0A33A"/>
                </a:solidFill>
                <a:latin typeface="Consolas"/>
              </a:rPr>
              <a:t>EIXO E3 DO D-11 · SEGURANÇA VIÁRIA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89611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F1F6"/>
                </a:solidFill>
                <a:latin typeface="Segoe UI Semibold"/>
              </a:rPr>
              <a:t>Acidentes DER · por dentro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389888"/>
            <a:ext cx="38100" cy="4572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0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Recorta a mesma externalidade do eixo E3 para a malha sob gestão estadual, que é onde as intervenções do plano de ação incidem.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COMO FUNCIONA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04287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551175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79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Os arquivos Excel originais do DER são consolidados em uma base única em 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017519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35223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Scripts Python geram os gráficos interativos a partir dessa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83863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01567"/>
            <a:ext cx="42245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 resultado é um conjunto de páginas estáticas: portal, dashboard principal com abas, dashboard compacto, relatório executivo e guia de acesso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133087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50791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Cada gráfico é uma página HTML independente, o que permite reaproveitá-los em relatórios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0408" y="20848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DADOS E FONTES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50408" y="230428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50408" y="2551175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2468879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Registros de sinistros nas rodovias sob gestão do DER-SP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50408" y="3017519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2935223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DER-SP: autarquia que administra mais de 12 mil km de malha estadual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8" y="3483863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401567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Série consolidada de 2023, 2024 e 2025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8" y="3767327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685031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Base única dados_completos.csv gerada pelo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0408" y="4379975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INTEGRAÇÕES E PUBLICAÇÃO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50408" y="4599431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50408" y="4846319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06440" y="4764023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Publicação estática, sem backend em execução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50408" y="5129783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5047487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Complementa o Infosiga com o recorte específico do 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7" y="2084831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NÚMEROS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10927" y="230428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10927" y="2468879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39.578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0927" y="26974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ACIDENTES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10927" y="2907791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10927" y="3035807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34.324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0927" y="32644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VÍTIMAS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10927" y="3474719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10927" y="3602735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2.065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7" y="3831335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ÓBITOS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10927" y="404164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10927" y="4169663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927" y="4398263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GRÁFICOS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10927" y="4608575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10927" y="48646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SITUAÇÃO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710927" y="5084063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10927" y="5248655"/>
            <a:ext cx="1822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8FB0C2"/>
                </a:solidFill>
                <a:latin typeface="Segoe UI"/>
              </a:rPr>
              <a:t>Serviço suspenso no Render. Por ano: 14.389 acidentes em 2023, 13.882 em 2024 e 11.307 em 2025 — queda que merece checagem de completude antes de ser lida como tendência.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https://acidentes-der-analise-exploratoria.onrender.com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Python  ·  Plotly  ·  Dashboards HTML  ·  Render     19/24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09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E0A33A"/>
                </a:solidFill>
                <a:latin typeface="Consolas"/>
              </a:rPr>
              <a:t>PRODUTO D-3 TOMO 1 · RODOVIAS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E8F1F6"/>
                </a:solidFill>
                <a:latin typeface="Segoe UI Semibold"/>
              </a:rPr>
              <a:t>Densidade Malha 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Densidade da malha rodoviária estadual paulista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4160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Mede a densidade da malha rodoviária estadual por área e por população e classifica os trechos por tipo de administração, categoria e localização urbana ou rural. É a leitura de cobertura que sustenta o diagnóstico rodoviário do plano.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315968"/>
            <a:ext cx="38100" cy="347472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352544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Onde a rede é densa e onde falta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956048"/>
            <a:ext cx="416052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138928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138928"/>
            <a:ext cx="74797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GeoPandas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28" y="5138928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Folium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9020" y="5138928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0368" y="1060704"/>
            <a:ext cx="6302959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https://densidade-de-malha-estadual-sp.onrender.com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9824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77840" y="1115568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ensida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98448"/>
            <a:ext cx="6302959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230368" y="1298448"/>
            <a:ext cx="6302959" cy="283464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4206240"/>
            <a:ext cx="6302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Análise geoespacial da malha · relatório de atividades, jun/2026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4572000"/>
            <a:ext cx="6302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30368" y="4928616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846320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Densidade por área e por população, calculada trecho a trecho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0368" y="5212080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5129784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Classificação por administração, categoria e recorte urbano-rural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30368" y="54955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413248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Leitura territorial dos vazios de cobertura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57790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5696712"/>
            <a:ext cx="60469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Base para os estudos de expansão da malha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https://densidade-de-malha-estadual-sp.onrender.com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20/24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09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 · DETALHAMENTO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E0A33A"/>
                </a:solidFill>
                <a:latin typeface="Consolas"/>
              </a:rPr>
              <a:t>PRODUTO D-3 TOMO 1 · RODOVIAS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89611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F1F6"/>
                </a:solidFill>
                <a:latin typeface="Segoe UI Semibold"/>
              </a:rPr>
              <a:t>Densidade Malha SP · por dentro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389888"/>
            <a:ext cx="38100" cy="4572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0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Sustenta o Produto D-3 Tomo 1, o diagnóstico do sistema rodoviário, com a leitura de cobertura da rede por área e por população.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COMO FUNCIONA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04287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551175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79"/>
            <a:ext cx="42245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Análise geoespacial em Python com GeoPandas e Folium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834639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52343"/>
            <a:ext cx="42245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Calcula densidade da malha por área e por população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118103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035807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Classifica os trechos por tipo de administração, categoria de rodovia e localização urbana ou rural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4447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02151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 relatório final é um site estático com contextualização, objetivos, dados, metodologia, resultados e anexo de mapas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050791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968495"/>
            <a:ext cx="4224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Os dados de entrada e saída ficam fora do versionamento para manter o repositório leve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0408" y="20848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DADOS E FONTES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0408" y="230428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50408" y="2551175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2468879"/>
            <a:ext cx="3493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DER-SP — malha rodoviária estadual e classificação dos trechos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8" y="3017519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2935223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IBGE — malha territorial e população municipal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8" y="3300983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218687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Recorte estadual completo, ano-base 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0408" y="373075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INTEGRAÇÕES E PUBLICAÇÃO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50408" y="3950207"/>
            <a:ext cx="374903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50408" y="4197095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06440" y="4114799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Publicação estática (Static Site) no Render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50408" y="4480559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4398263"/>
            <a:ext cx="34930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D3E3EC"/>
                </a:solidFill>
                <a:latin typeface="Segoe UI"/>
              </a:rPr>
              <a:t>Mapas interativos anexos ao relatório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7" y="2084831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NÚMEROS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10927" y="230428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10927" y="2468879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0927" y="26974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ANO-BASE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10927" y="2907791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10927" y="3035807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0927" y="3264407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INDICADORES DE DENSIDADE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10927" y="3474719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10927" y="3602735"/>
            <a:ext cx="182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7" y="3831335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CLASSIFICAÇÕES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10927" y="4041647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10927" y="4297679"/>
            <a:ext cx="182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SITUAÇÃO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10927" y="4517135"/>
            <a:ext cx="182240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10927" y="4681727"/>
            <a:ext cx="1822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8FB0C2"/>
                </a:solidFill>
                <a:latin typeface="Segoe UI"/>
              </a:rPr>
              <a:t>Serviço suspenso no Render. O relatório pode ser aberto localmente a partir de relatorio/index.html, sem necessidade de servidor.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https://densidade-de-malha-estadual-sp.onrender.com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Python  ·  GeoPandas  ·  Folium  ·  Render     21/24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CADEIA DE PRODUTOS DO TDR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F1F6"/>
                </a:solidFill>
                <a:latin typeface="Segoe UI Semibold"/>
              </a:rPr>
              <a:t>Onde cada aplicação entra na cadeia de produtos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0C2"/>
                </a:solidFill>
                <a:latin typeface="Segoe UI"/>
              </a:rPr>
              <a:t>O Termo de Referência do PLI-SP organiza o trabalho em produtos encadeados. As aplicações do hub não são ferramentas soltas: cada uma instrumenta uma etapa dessa cadeia, da coleta do dado primário à hierarquização das intervenções.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377440"/>
            <a:ext cx="2028687" cy="34747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377440"/>
            <a:ext cx="2028687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6995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D-2 / D-3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6995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Caracterização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16995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Socioeconomia do Estado e caracterização do sistema de transporte em sete tomos — rodovias, ferrovias, portos, hidrovias, aerovias, dutovias e terminais intermodais.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54880"/>
            <a:ext cx="169950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919472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FAD-Stats 2.0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230368"/>
            <a:ext cx="125820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Densidade Malha SP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541264"/>
            <a:ext cx="125820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Acidentes Infosiga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52160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Acidentes 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69935" y="2377440"/>
            <a:ext cx="2028687" cy="34747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69935" y="2377440"/>
            <a:ext cx="2028687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34527" y="2560320"/>
            <a:ext cx="16995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D-4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4527" y="2788920"/>
            <a:ext cx="16995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Matrizes multimodais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34527" y="3337560"/>
            <a:ext cx="16995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Levantamento de dados secundários, coleta em rodovias e consolidação das matrizes multimodais do ano-base.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34527" y="4754880"/>
            <a:ext cx="169950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34527" y="4919472"/>
            <a:ext cx="154166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Formulário Embarcadores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1503" y="2377440"/>
            <a:ext cx="2028687" cy="34747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81503" y="2377440"/>
            <a:ext cx="2028687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6095" y="2560320"/>
            <a:ext cx="16995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D-11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6095" y="2788920"/>
            <a:ext cx="16995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Triagem de temas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46095" y="3337560"/>
            <a:ext cx="16995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Meta 3.3 do TDR: analisar criticamente os pontos vindos dos contatos setoriais e identificar quais viram hipóteses simuláveis. Foram 31 temas em 5 eixos funcionais.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46095" y="4754880"/>
            <a:ext cx="169950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46095" y="4919472"/>
            <a:ext cx="108812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Relatórios D-11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46095" y="5230368"/>
            <a:ext cx="108812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PLI-HazardTrack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93071" y="2377440"/>
            <a:ext cx="2028687" cy="34747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3071" y="2377440"/>
            <a:ext cx="2028687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7663" y="2560320"/>
            <a:ext cx="16995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D-12 a D-14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7663" y="2788920"/>
            <a:ext cx="16995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Cenários e hierarquização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7663" y="3337560"/>
            <a:ext cx="16995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Metas 4.1 a 4.4: ao menos 25 intervenções selecionadas, avaliadas em CAPEX/OPEX, benefício-custo e hierarquizadas por AHP.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57663" y="4754880"/>
            <a:ext cx="169950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57663" y="4919472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SICARD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57663" y="5230368"/>
            <a:ext cx="131489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AHP Tool Calculator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57663" y="5541264"/>
            <a:ext cx="165504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Calculadora Aderência 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4639" y="2377440"/>
            <a:ext cx="2028687" cy="34747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04639" y="2377440"/>
            <a:ext cx="2028687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69231" y="2560320"/>
            <a:ext cx="16995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D-17 / D-18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69231" y="2788920"/>
            <a:ext cx="16995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Governança e institucional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9231" y="3337560"/>
            <a:ext cx="16995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Temas que não viram projeto migram para as entregas de governança e de aspectos jurídicos, institucionais e regulatórios.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69231" y="4754880"/>
            <a:ext cx="169950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69231" y="4919472"/>
            <a:ext cx="74797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SIGMA-PLI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Termo de Referencia do PLI-SP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Cadeia de produtos     22/24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Como as peças conversam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FB0C2"/>
                </a:solidFill>
                <a:latin typeface="Segoe UI"/>
              </a:rPr>
              <a:t>O portfólio não é um conjunto de sistemas isolados: quatro integrações já em produção ligam sensor, cadastro e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SENSORES E COLETA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377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77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PLI-HazardTrack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871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chuva MERGE/INPE → risco por trecho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20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520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703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 Reporta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14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relato do cidadão → incidente verificado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OPERAÇÃO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0288" y="292608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90288" y="292608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9744" y="31089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 Smart Router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9744" y="341985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rota que desvia do risco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01568" y="2834640"/>
            <a:ext cx="1188720" cy="36576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29000" y="270662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CAMADAS DE RISCO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401568" y="3611880"/>
            <a:ext cx="1188720" cy="365759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429000" y="3483863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GEOJSON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LEITURA DO TERRITÓRIO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22208" y="2377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22208" y="2377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41664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FAD-Stats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1664" y="2871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IBGE · SECEX · MTE · ANTT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22208" y="3520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E0A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22208" y="3520440"/>
            <a:ext cx="44450" cy="9144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41664" y="3703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41664" y="4014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sinistralidade e densidade da malha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PLATAFORMA CENTRAL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EC2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166360"/>
            <a:ext cx="44450" cy="9144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SIGMA-PLI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566013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metadados, identidade e grafo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028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DECISÃO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90288" y="516636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974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SICARD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9744" y="566013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carteira hierarquizada por AHP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MÉTODO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2220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EC2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522208" y="5166360"/>
            <a:ext cx="44450" cy="9144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4166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AHP Tool Calculator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41664" y="566013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pesos e consistência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01568" y="5623560"/>
            <a:ext cx="1188720" cy="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429000" y="531266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LOGIN E CADASTROS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7333488" y="5623560"/>
            <a:ext cx="1188720" cy="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60920" y="531266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MÉTODO AHP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4 integrações em produção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Arquitetura     23/24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PROCEDÊNCIA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De onde vem cada afirmação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0C2"/>
                </a:solidFill>
                <a:latin typeface="Segoe UI"/>
              </a:rPr>
              <a:t>Nada neste documento foi escrito de memória. O enquadramento institucional vem das fontes oficiais do plano; o detalhamento técnico, da documentação das próprias aplicações.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31720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3042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Portal oficial do PLI-SP 2050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4688" y="2331720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pli.semil.sp.gov.br — produtos, painéis interativos e relatórios técnicos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9864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08152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0540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Termo de Referência do PLI-SP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3081528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Metas 3.3 e 4.1 a 4.4, base normativa da triagem e da hierarquização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48456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83133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0390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Infosiga-SP · Detran-SP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3831336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Sistema de Informações Gerenciais de Sinistros de Trânsito, 645 municípios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98264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581144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8296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553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DER-SP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4581144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Autarquia gestora da malha rodoviária estadual, com dados abertos por tema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148072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330952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8296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53035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Documentação das próprias aplicações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5330952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READMEs, metodologias e inventários de implementação no servidor de produção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89788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VPC-GEOSER · 31 de agosto de 2026     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